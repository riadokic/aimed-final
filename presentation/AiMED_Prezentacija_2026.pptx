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1" r:id="rId7"/>
    <p:sldId id="260" r:id="rId8"/>
    <p:sldId id="262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4"/>
  </p:normalViewPr>
  <p:slideViewPr>
    <p:cSldViewPr snapToGrid="0" snapToObjects="1">
      <p:cViewPr>
        <p:scale>
          <a:sx n="120" d="100"/>
          <a:sy n="120" d="100"/>
        </p:scale>
        <p:origin x="800" y="2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mailto:info@cee-med.ba?subject=Upit%20sa%20prezentacije" TargetMode="External"/><Relationship Id="rId2" Type="http://schemas.openxmlformats.org/officeDocument/2006/relationships/hyperlink" Target="https://aimed.ba/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548640"/>
            <a:ext cx="265176" cy="26517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57784" y="539496"/>
            <a:ext cx="265176" cy="26517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0000"/>
                </a:solidFill>
                <a:latin typeface="Inter"/>
              </a:rPr>
              <a:t>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" y="539496"/>
            <a:ext cx="10972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Inter"/>
              </a:rPr>
              <a:t>AiMED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" y="859536"/>
            <a:ext cx="2743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200" dirty="0">
                <a:solidFill>
                  <a:srgbClr val="A1A1AA"/>
                </a:solidFill>
                <a:latin typeface="Inter"/>
              </a:rPr>
              <a:t>CEE-MED D.O.O.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-1" y="1508760"/>
            <a:ext cx="12191695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200" dirty="0">
                <a:solidFill>
                  <a:srgbClr val="71717A"/>
                </a:solidFill>
                <a:latin typeface="Inter"/>
              </a:rPr>
              <a:t>INTELIGENTNA MEDICINSKA DOKUMENTACIJA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5" y="2011680"/>
            <a:ext cx="12191695" cy="2011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200" b="1" dirty="0">
                <a:solidFill>
                  <a:srgbClr val="FFFFFF"/>
                </a:solidFill>
                <a:latin typeface="Inter"/>
              </a:rPr>
              <a:t>Vi </a:t>
            </a:r>
            <a:r>
              <a:rPr sz="7200" b="1" dirty="0" err="1">
                <a:solidFill>
                  <a:srgbClr val="FFFFFF"/>
                </a:solidFill>
                <a:latin typeface="Inter"/>
              </a:rPr>
              <a:t>diktirate</a:t>
            </a:r>
            <a:endParaRPr sz="7200" b="1" dirty="0">
              <a:solidFill>
                <a:srgbClr val="FFFFFF"/>
              </a:solidFill>
              <a:latin typeface="Inter"/>
            </a:endParaRP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200" b="1" dirty="0" err="1">
                <a:solidFill>
                  <a:schemeClr val="bg1">
                    <a:lumMod val="75000"/>
                  </a:schemeClr>
                </a:solidFill>
                <a:latin typeface="Inter"/>
              </a:rPr>
              <a:t>AiMED</a:t>
            </a:r>
            <a:r>
              <a:rPr sz="7200" b="1" dirty="0">
                <a:solidFill>
                  <a:schemeClr val="bg1">
                    <a:lumMod val="75000"/>
                  </a:schemeClr>
                </a:solidFill>
                <a:latin typeface="Inter"/>
              </a:rPr>
              <a:t> </a:t>
            </a:r>
            <a:r>
              <a:rPr sz="7200" b="1" dirty="0" err="1">
                <a:solidFill>
                  <a:schemeClr val="bg1">
                    <a:lumMod val="75000"/>
                  </a:schemeClr>
                </a:solidFill>
                <a:latin typeface="Inter"/>
              </a:rPr>
              <a:t>piše</a:t>
            </a:r>
            <a:endParaRPr sz="7200" b="1" dirty="0">
              <a:solidFill>
                <a:schemeClr val="bg1">
                  <a:lumMod val="75000"/>
                </a:schemeClr>
              </a:solidFill>
              <a:latin typeface="Inter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05256" y="4206240"/>
            <a:ext cx="10560704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dirty="0" err="1">
                <a:solidFill>
                  <a:schemeClr val="bg1">
                    <a:lumMod val="95000"/>
                  </a:schemeClr>
                </a:solidFill>
                <a:latin typeface="Inter"/>
              </a:rPr>
              <a:t>Inteligentni</a:t>
            </a:r>
            <a:r>
              <a:rPr sz="2000" b="0" dirty="0">
                <a:solidFill>
                  <a:schemeClr val="bg1">
                    <a:lumMod val="95000"/>
                  </a:schemeClr>
                </a:solidFill>
                <a:latin typeface="Inter"/>
              </a:rPr>
              <a:t> AI </a:t>
            </a:r>
            <a:r>
              <a:rPr sz="2000" b="0" dirty="0" err="1">
                <a:solidFill>
                  <a:schemeClr val="bg1">
                    <a:lumMod val="95000"/>
                  </a:schemeClr>
                </a:solidFill>
                <a:latin typeface="Inter"/>
              </a:rPr>
              <a:t>asistent</a:t>
            </a:r>
            <a:r>
              <a:rPr sz="2000" b="0" dirty="0">
                <a:solidFill>
                  <a:schemeClr val="bg1">
                    <a:lumMod val="95000"/>
                  </a:schemeClr>
                </a:solidFill>
                <a:latin typeface="Inter"/>
              </a:rPr>
              <a:t> koji </a:t>
            </a:r>
            <a:r>
              <a:rPr sz="2000" b="0" dirty="0" err="1">
                <a:solidFill>
                  <a:schemeClr val="bg1">
                    <a:lumMod val="95000"/>
                  </a:schemeClr>
                </a:solidFill>
                <a:latin typeface="Inter"/>
              </a:rPr>
              <a:t>pretvara</a:t>
            </a:r>
            <a:r>
              <a:rPr sz="2000" b="0" dirty="0">
                <a:solidFill>
                  <a:schemeClr val="bg1">
                    <a:lumMod val="95000"/>
                  </a:schemeClr>
                </a:solidFill>
                <a:latin typeface="Inter"/>
              </a:rPr>
              <a:t> </a:t>
            </a:r>
            <a:r>
              <a:rPr sz="2000" b="0" dirty="0" err="1">
                <a:solidFill>
                  <a:schemeClr val="bg1">
                    <a:lumMod val="95000"/>
                  </a:schemeClr>
                </a:solidFill>
                <a:latin typeface="Inter"/>
              </a:rPr>
              <a:t>glasovni</a:t>
            </a:r>
            <a:r>
              <a:rPr sz="2000" b="0" dirty="0">
                <a:solidFill>
                  <a:schemeClr val="bg1">
                    <a:lumMod val="95000"/>
                  </a:schemeClr>
                </a:solidFill>
                <a:latin typeface="Inter"/>
              </a:rPr>
              <a:t> diktat </a:t>
            </a:r>
            <a:r>
              <a:rPr lang="hr-HR" sz="2000" b="0" dirty="0">
                <a:solidFill>
                  <a:schemeClr val="bg1">
                    <a:lumMod val="95000"/>
                  </a:schemeClr>
                </a:solidFill>
                <a:latin typeface="Inter"/>
              </a:rPr>
              <a:t>doktora</a:t>
            </a:r>
            <a:endParaRPr sz="2000" b="0" dirty="0">
              <a:solidFill>
                <a:schemeClr val="bg1">
                  <a:lumMod val="95000"/>
                </a:schemeClr>
              </a:solidFill>
              <a:latin typeface="Inter"/>
            </a:endParaRPr>
          </a:p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dirty="0">
                <a:solidFill>
                  <a:schemeClr val="bg1">
                    <a:lumMod val="95000"/>
                  </a:schemeClr>
                </a:solidFill>
                <a:latin typeface="Inter"/>
              </a:rPr>
              <a:t>u </a:t>
            </a:r>
            <a:r>
              <a:rPr sz="2000" b="0" dirty="0" err="1">
                <a:solidFill>
                  <a:schemeClr val="bg1">
                    <a:lumMod val="85000"/>
                  </a:schemeClr>
                </a:solidFill>
                <a:latin typeface="Inter"/>
              </a:rPr>
              <a:t>strukturirani</a:t>
            </a:r>
            <a:r>
              <a:rPr sz="2000" b="0" dirty="0">
                <a:solidFill>
                  <a:schemeClr val="bg1">
                    <a:lumMod val="95000"/>
                  </a:schemeClr>
                </a:solidFill>
                <a:latin typeface="Inter"/>
              </a:rPr>
              <a:t> </a:t>
            </a:r>
            <a:r>
              <a:rPr sz="2000" b="0" dirty="0" err="1">
                <a:solidFill>
                  <a:schemeClr val="bg1">
                    <a:lumMod val="95000"/>
                  </a:schemeClr>
                </a:solidFill>
                <a:latin typeface="Inter"/>
              </a:rPr>
              <a:t>medicinski</a:t>
            </a:r>
            <a:r>
              <a:rPr sz="2000" b="0" dirty="0">
                <a:solidFill>
                  <a:schemeClr val="bg1">
                    <a:lumMod val="95000"/>
                  </a:schemeClr>
                </a:solidFill>
                <a:latin typeface="Inter"/>
              </a:rPr>
              <a:t> </a:t>
            </a:r>
            <a:r>
              <a:rPr sz="2000" b="0" dirty="0" err="1">
                <a:solidFill>
                  <a:schemeClr val="bg1">
                    <a:lumMod val="95000"/>
                  </a:schemeClr>
                </a:solidFill>
                <a:latin typeface="Inter"/>
              </a:rPr>
              <a:t>nalaz</a:t>
            </a:r>
            <a:r>
              <a:rPr lang="hr-HR" sz="2000" dirty="0">
                <a:solidFill>
                  <a:schemeClr val="bg1">
                    <a:lumMod val="95000"/>
                  </a:schemeClr>
                </a:solidFill>
                <a:latin typeface="Inter"/>
              </a:rPr>
              <a:t> </a:t>
            </a:r>
            <a:r>
              <a:rPr sz="2000" b="0" dirty="0">
                <a:solidFill>
                  <a:schemeClr val="bg1">
                    <a:lumMod val="95000"/>
                  </a:schemeClr>
                </a:solidFill>
                <a:latin typeface="Inter"/>
              </a:rPr>
              <a:t>za </a:t>
            </a:r>
            <a:r>
              <a:rPr sz="2000" b="0" dirty="0" err="1">
                <a:solidFill>
                  <a:schemeClr val="bg1">
                    <a:lumMod val="95000"/>
                  </a:schemeClr>
                </a:solidFill>
                <a:latin typeface="Inter"/>
              </a:rPr>
              <a:t>manje</a:t>
            </a:r>
            <a:r>
              <a:rPr sz="2000" b="0" dirty="0">
                <a:solidFill>
                  <a:schemeClr val="bg1">
                    <a:lumMod val="95000"/>
                  </a:schemeClr>
                </a:solidFill>
                <a:latin typeface="Inter"/>
              </a:rPr>
              <a:t> od 60 </a:t>
            </a:r>
            <a:r>
              <a:rPr sz="2000" b="0" dirty="0" err="1">
                <a:solidFill>
                  <a:schemeClr val="bg1">
                    <a:lumMod val="95000"/>
                  </a:schemeClr>
                </a:solidFill>
                <a:latin typeface="Inter"/>
              </a:rPr>
              <a:t>sekundi</a:t>
            </a:r>
            <a:endParaRPr sz="2000" b="0" dirty="0">
              <a:solidFill>
                <a:schemeClr val="bg1">
                  <a:lumMod val="95000"/>
                </a:schemeClr>
              </a:solidFill>
              <a:latin typeface="Inter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2529687" y="5486400"/>
            <a:ext cx="2194560" cy="347472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A1A1AA"/>
                </a:solidFill>
                <a:latin typeface="Inter"/>
              </a:rPr>
              <a:t>ISO 27001:2022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98567" y="5486400"/>
            <a:ext cx="2194560" cy="347472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A1A1AA"/>
                </a:solidFill>
                <a:latin typeface="Inter"/>
              </a:rPr>
              <a:t>GDPR USKLAĐENO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67447" y="5486400"/>
            <a:ext cx="2194560" cy="347472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A1A1AA"/>
                </a:solidFill>
                <a:latin typeface="Inter"/>
              </a:rPr>
              <a:t>ZZLP BIH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548640"/>
            <a:ext cx="265176" cy="265176"/>
          </a:xfrm>
          <a:prstGeom prst="roundRect">
            <a:avLst>
              <a:gd name="adj" fmla="val 5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57784" y="539496"/>
            <a:ext cx="265176" cy="26517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Inter"/>
              </a:rPr>
              <a:t>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" y="539496"/>
            <a:ext cx="10972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D1B2A"/>
                </a:solidFill>
                <a:latin typeface="Inter"/>
              </a:rPr>
              <a:t>AiMED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80" dirty="0">
                <a:solidFill>
                  <a:srgbClr val="71717A"/>
                </a:solidFill>
                <a:latin typeface="Inter"/>
              </a:rPr>
              <a:t>PROBLEM KOJI PREPOZNAJETE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553212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dirty="0" err="1">
                <a:solidFill>
                  <a:srgbClr val="0D1B2A"/>
                </a:solidFill>
                <a:latin typeface="Inter"/>
              </a:rPr>
              <a:t>Papiri</a:t>
            </a:r>
            <a:r>
              <a:rPr sz="4400" b="1" dirty="0">
                <a:solidFill>
                  <a:srgbClr val="0D1B2A"/>
                </a:solidFill>
                <a:latin typeface="Inter"/>
              </a:rPr>
              <a:t> </a:t>
            </a:r>
            <a:r>
              <a:rPr sz="4400" b="1" dirty="0" err="1">
                <a:solidFill>
                  <a:srgbClr val="0D1B2A"/>
                </a:solidFill>
                <a:latin typeface="Inter"/>
              </a:rPr>
              <a:t>umjesto</a:t>
            </a:r>
            <a:endParaRPr sz="4400" b="1" dirty="0">
              <a:solidFill>
                <a:srgbClr val="0D1B2A"/>
              </a:solidFill>
              <a:latin typeface="Inter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dirty="0" err="1">
                <a:solidFill>
                  <a:schemeClr val="bg1">
                    <a:lumMod val="65000"/>
                  </a:schemeClr>
                </a:solidFill>
                <a:latin typeface="Inter" panose="020B0502030000000004" pitchFamily="34" charset="0"/>
                <a:ea typeface="Inter" panose="020B0502030000000004" pitchFamily="34" charset="0"/>
              </a:rPr>
              <a:t>pacijenata</a:t>
            </a:r>
            <a:endParaRPr sz="4400" b="1" dirty="0">
              <a:solidFill>
                <a:schemeClr val="bg1">
                  <a:lumMod val="65000"/>
                </a:schemeClr>
              </a:solidFill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2926080"/>
            <a:ext cx="5242561" cy="2743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dirty="0">
                <a:solidFill>
                  <a:srgbClr val="3F3F46"/>
                </a:solidFill>
                <a:latin typeface="Inter"/>
              </a:rPr>
              <a:t>Za </a:t>
            </a:r>
            <a:r>
              <a:rPr sz="1500" b="0" dirty="0" err="1">
                <a:solidFill>
                  <a:srgbClr val="3F3F46"/>
                </a:solidFill>
                <a:latin typeface="Inter"/>
              </a:rPr>
              <a:t>svakog</a:t>
            </a:r>
            <a:r>
              <a:rPr sz="1500" b="0" dirty="0">
                <a:solidFill>
                  <a:srgbClr val="3F3F46"/>
                </a:solidFill>
                <a:latin typeface="Inter"/>
              </a:rPr>
              <a:t> </a:t>
            </a:r>
            <a:r>
              <a:rPr sz="1500" b="0" dirty="0" err="1">
                <a:solidFill>
                  <a:srgbClr val="3F3F46"/>
                </a:solidFill>
                <a:latin typeface="Inter"/>
              </a:rPr>
              <a:t>pacijenta</a:t>
            </a:r>
            <a:r>
              <a:rPr sz="1500" b="0" dirty="0">
                <a:solidFill>
                  <a:srgbClr val="3F3F46"/>
                </a:solidFill>
                <a:latin typeface="Inter"/>
              </a:rPr>
              <a:t> </a:t>
            </a:r>
            <a:r>
              <a:rPr sz="1500" b="0" dirty="0" err="1">
                <a:solidFill>
                  <a:srgbClr val="3F3F46"/>
                </a:solidFill>
                <a:latin typeface="Inter"/>
              </a:rPr>
              <a:t>postoji</a:t>
            </a:r>
            <a:r>
              <a:rPr sz="1500" b="0" dirty="0">
                <a:solidFill>
                  <a:srgbClr val="3F3F46"/>
                </a:solidFill>
                <a:latin typeface="Inter"/>
              </a:rPr>
              <a:t> </a:t>
            </a:r>
            <a:r>
              <a:rPr sz="1500" b="0" dirty="0" err="1">
                <a:solidFill>
                  <a:srgbClr val="3F3F46"/>
                </a:solidFill>
                <a:latin typeface="Inter"/>
              </a:rPr>
              <a:t>procedura</a:t>
            </a:r>
            <a:r>
              <a:rPr sz="1500" b="0" dirty="0">
                <a:solidFill>
                  <a:srgbClr val="3F3F46"/>
                </a:solidFill>
                <a:latin typeface="Inter"/>
              </a:rPr>
              <a:t> </a:t>
            </a:r>
            <a:r>
              <a:rPr sz="1500" b="0" dirty="0" err="1">
                <a:solidFill>
                  <a:srgbClr val="3F3F46"/>
                </a:solidFill>
                <a:latin typeface="Inter"/>
              </a:rPr>
              <a:t>koja</a:t>
            </a:r>
            <a:r>
              <a:rPr sz="1500" b="0" dirty="0">
                <a:solidFill>
                  <a:srgbClr val="3F3F46"/>
                </a:solidFill>
                <a:latin typeface="Inter"/>
              </a:rPr>
              <a:t> se </a:t>
            </a:r>
            <a:r>
              <a:rPr sz="1500" b="0" dirty="0" err="1">
                <a:solidFill>
                  <a:srgbClr val="3F3F46"/>
                </a:solidFill>
                <a:latin typeface="Inter"/>
              </a:rPr>
              <a:t>ponavlja</a:t>
            </a:r>
            <a:r>
              <a:rPr sz="1500" b="0" dirty="0">
                <a:solidFill>
                  <a:srgbClr val="3F3F46"/>
                </a:solidFill>
                <a:latin typeface="Inter"/>
              </a:rPr>
              <a:t>: </a:t>
            </a:r>
            <a:r>
              <a:rPr sz="1500" b="0" dirty="0" err="1">
                <a:solidFill>
                  <a:srgbClr val="3F3F46"/>
                </a:solidFill>
                <a:latin typeface="Inter"/>
              </a:rPr>
              <a:t>otvori</a:t>
            </a:r>
            <a:r>
              <a:rPr sz="1500" b="0" dirty="0">
                <a:solidFill>
                  <a:srgbClr val="3F3F46"/>
                </a:solidFill>
                <a:latin typeface="Inter"/>
              </a:rPr>
              <a:t> program, </a:t>
            </a:r>
            <a:r>
              <a:rPr sz="1500" b="0" dirty="0" err="1">
                <a:solidFill>
                  <a:srgbClr val="3F3F46"/>
                </a:solidFill>
                <a:latin typeface="Inter"/>
              </a:rPr>
              <a:t>upiši</a:t>
            </a:r>
            <a:r>
              <a:rPr sz="1500" b="0" dirty="0">
                <a:solidFill>
                  <a:srgbClr val="3F3F46"/>
                </a:solidFill>
                <a:latin typeface="Inter"/>
              </a:rPr>
              <a:t> </a:t>
            </a:r>
            <a:r>
              <a:rPr lang="hr-HR" sz="1500" b="0" dirty="0">
                <a:solidFill>
                  <a:srgbClr val="3F3F46"/>
                </a:solidFill>
                <a:latin typeface="Inter"/>
              </a:rPr>
              <a:t>nalaz i njegove sekcije</a:t>
            </a:r>
            <a:r>
              <a:rPr sz="1500" b="0" dirty="0">
                <a:solidFill>
                  <a:srgbClr val="3F3F46"/>
                </a:solidFill>
                <a:latin typeface="Inter"/>
              </a:rPr>
              <a:t>, </a:t>
            </a:r>
            <a:r>
              <a:rPr sz="1500" b="0" dirty="0" err="1">
                <a:solidFill>
                  <a:srgbClr val="3F3F46"/>
                </a:solidFill>
                <a:latin typeface="Inter"/>
              </a:rPr>
              <a:t>provjeri</a:t>
            </a:r>
            <a:r>
              <a:rPr sz="1500" b="0" dirty="0">
                <a:solidFill>
                  <a:srgbClr val="3F3F46"/>
                </a:solidFill>
                <a:latin typeface="Inter"/>
              </a:rPr>
              <a:t> </a:t>
            </a:r>
            <a:r>
              <a:rPr sz="1500" b="0" dirty="0" err="1">
                <a:solidFill>
                  <a:srgbClr val="3F3F46"/>
                </a:solidFill>
                <a:latin typeface="Inter"/>
              </a:rPr>
              <a:t>dijagnozu</a:t>
            </a:r>
            <a:r>
              <a:rPr sz="1500" b="0" dirty="0">
                <a:solidFill>
                  <a:srgbClr val="3F3F46"/>
                </a:solidFill>
                <a:latin typeface="Inter"/>
              </a:rPr>
              <a:t> po MKB-10 </a:t>
            </a:r>
            <a:r>
              <a:rPr sz="1500" b="0" dirty="0" err="1">
                <a:solidFill>
                  <a:srgbClr val="3F3F46"/>
                </a:solidFill>
                <a:latin typeface="Inter"/>
              </a:rPr>
              <a:t>listi</a:t>
            </a:r>
            <a:r>
              <a:rPr sz="1500" b="0" dirty="0">
                <a:solidFill>
                  <a:srgbClr val="3F3F46"/>
                </a:solidFill>
                <a:latin typeface="Inter"/>
              </a:rPr>
              <a:t>, </a:t>
            </a:r>
            <a:r>
              <a:rPr lang="hr-HR" sz="1500" b="0" dirty="0">
                <a:solidFill>
                  <a:srgbClr val="3F3F46"/>
                </a:solidFill>
                <a:latin typeface="Inter"/>
              </a:rPr>
              <a:t>propiši terapiju</a:t>
            </a:r>
            <a:r>
              <a:rPr sz="1500" b="0" dirty="0">
                <a:solidFill>
                  <a:srgbClr val="3F3F46"/>
                </a:solidFill>
                <a:latin typeface="Inter"/>
              </a:rPr>
              <a:t>, </a:t>
            </a:r>
            <a:r>
              <a:rPr sz="1500" b="0" dirty="0" err="1">
                <a:solidFill>
                  <a:srgbClr val="3F3F46"/>
                </a:solidFill>
                <a:latin typeface="Inter"/>
              </a:rPr>
              <a:t>formatiraj</a:t>
            </a:r>
            <a:r>
              <a:rPr sz="1500" b="0" dirty="0">
                <a:solidFill>
                  <a:srgbClr val="3F3F46"/>
                </a:solidFill>
                <a:latin typeface="Inter"/>
              </a:rPr>
              <a:t> </a:t>
            </a:r>
            <a:r>
              <a:rPr sz="1500" b="0" dirty="0" err="1">
                <a:solidFill>
                  <a:srgbClr val="3F3F46"/>
                </a:solidFill>
                <a:latin typeface="Inter"/>
              </a:rPr>
              <a:t>nalaz</a:t>
            </a:r>
            <a:r>
              <a:rPr sz="1500" b="0" dirty="0">
                <a:solidFill>
                  <a:srgbClr val="3F3F46"/>
                </a:solidFill>
                <a:latin typeface="Inter"/>
              </a:rPr>
              <a:t>, </a:t>
            </a:r>
            <a:r>
              <a:rPr sz="1500" b="0" dirty="0" err="1">
                <a:solidFill>
                  <a:srgbClr val="3F3F46"/>
                </a:solidFill>
                <a:latin typeface="Inter"/>
              </a:rPr>
              <a:t>printaj</a:t>
            </a:r>
            <a:r>
              <a:rPr sz="1500" b="0" dirty="0">
                <a:solidFill>
                  <a:srgbClr val="3F3F46"/>
                </a:solidFill>
                <a:latin typeface="Inter"/>
              </a:rPr>
              <a:t> </a:t>
            </a:r>
            <a:r>
              <a:rPr sz="1500" b="0" dirty="0" err="1">
                <a:solidFill>
                  <a:srgbClr val="3F3F46"/>
                </a:solidFill>
                <a:latin typeface="Inter"/>
              </a:rPr>
              <a:t>i</a:t>
            </a:r>
            <a:r>
              <a:rPr sz="1500" b="0" dirty="0">
                <a:solidFill>
                  <a:srgbClr val="3F3F46"/>
                </a:solidFill>
                <a:latin typeface="Inter"/>
              </a:rPr>
              <a:t> </a:t>
            </a:r>
            <a:r>
              <a:rPr sz="1500" b="0" dirty="0" err="1">
                <a:solidFill>
                  <a:srgbClr val="3F3F46"/>
                </a:solidFill>
                <a:latin typeface="Inter"/>
              </a:rPr>
              <a:t>potpiši</a:t>
            </a:r>
            <a:r>
              <a:rPr sz="1500" b="0" dirty="0">
                <a:solidFill>
                  <a:srgbClr val="3F3F46"/>
                </a:solidFill>
                <a:latin typeface="Inter"/>
              </a:rPr>
              <a:t>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1500" b="0" dirty="0">
              <a:solidFill>
                <a:srgbClr val="3F3F46"/>
              </a:solidFill>
              <a:latin typeface="Inter"/>
            </a:endParaRPr>
          </a:p>
          <a:p>
            <a:pPr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 err="1">
                <a:solidFill>
                  <a:srgbClr val="3F3F46"/>
                </a:solidFill>
                <a:latin typeface="Inter"/>
              </a:rPr>
              <a:t>Svaki</a:t>
            </a:r>
            <a:r>
              <a:rPr sz="1500" b="1" dirty="0">
                <a:solidFill>
                  <a:srgbClr val="3F3F46"/>
                </a:solidFill>
                <a:latin typeface="Inter"/>
              </a:rPr>
              <a:t> put. Za </a:t>
            </a:r>
            <a:r>
              <a:rPr sz="1500" b="1" dirty="0" err="1">
                <a:solidFill>
                  <a:srgbClr val="3F3F46"/>
                </a:solidFill>
                <a:latin typeface="Inter"/>
              </a:rPr>
              <a:t>svaku</a:t>
            </a:r>
            <a:r>
              <a:rPr sz="1500" b="1" dirty="0">
                <a:solidFill>
                  <a:srgbClr val="3F3F46"/>
                </a:solidFill>
                <a:latin typeface="Inter"/>
              </a:rPr>
              <a:t> </a:t>
            </a:r>
            <a:r>
              <a:rPr sz="1500" b="1" dirty="0" err="1">
                <a:solidFill>
                  <a:srgbClr val="3F3F46"/>
                </a:solidFill>
                <a:latin typeface="Inter"/>
              </a:rPr>
              <a:t>osobu</a:t>
            </a:r>
            <a:r>
              <a:rPr sz="1500" b="1" dirty="0">
                <a:solidFill>
                  <a:srgbClr val="3F3F46"/>
                </a:solidFill>
                <a:latin typeface="Inter"/>
              </a:rPr>
              <a:t>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1500" b="1" dirty="0">
              <a:solidFill>
                <a:srgbClr val="3F3F46"/>
              </a:solidFill>
              <a:latin typeface="Inter"/>
            </a:endParaRPr>
          </a:p>
          <a:p>
            <a:pPr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</a:pPr>
            <a:r>
              <a:rPr lang="hr-HR" sz="1500" dirty="0">
                <a:solidFill>
                  <a:srgbClr val="3F3F46"/>
                </a:solidFill>
                <a:latin typeface="Inter"/>
              </a:rPr>
              <a:t>Ukupno: S</a:t>
            </a:r>
            <a:r>
              <a:rPr sz="1500" b="0" dirty="0" err="1">
                <a:solidFill>
                  <a:srgbClr val="3F3F46"/>
                </a:solidFill>
                <a:latin typeface="Inter"/>
              </a:rPr>
              <a:t>totine</a:t>
            </a:r>
            <a:r>
              <a:rPr sz="1500" b="0" dirty="0">
                <a:solidFill>
                  <a:srgbClr val="3F3F46"/>
                </a:solidFill>
                <a:latin typeface="Inter"/>
              </a:rPr>
              <a:t> sati </a:t>
            </a:r>
            <a:r>
              <a:rPr sz="1500" b="0" dirty="0" err="1">
                <a:solidFill>
                  <a:srgbClr val="3F3F46"/>
                </a:solidFill>
                <a:latin typeface="Inter"/>
              </a:rPr>
              <a:t>godišnje</a:t>
            </a:r>
            <a:r>
              <a:rPr sz="1500" b="0" dirty="0">
                <a:solidFill>
                  <a:srgbClr val="3F3F46"/>
                </a:solidFill>
                <a:latin typeface="Inter"/>
              </a:rPr>
              <a:t> </a:t>
            </a:r>
            <a:r>
              <a:rPr sz="1500" b="0" dirty="0" err="1">
                <a:solidFill>
                  <a:srgbClr val="3F3F46"/>
                </a:solidFill>
                <a:latin typeface="Inter"/>
              </a:rPr>
              <a:t>koje</a:t>
            </a:r>
            <a:r>
              <a:rPr sz="1500" b="0" dirty="0">
                <a:solidFill>
                  <a:srgbClr val="3F3F46"/>
                </a:solidFill>
                <a:latin typeface="Inter"/>
              </a:rPr>
              <a:t> ne </a:t>
            </a:r>
            <a:r>
              <a:rPr sz="1500" b="0" dirty="0" err="1">
                <a:solidFill>
                  <a:srgbClr val="3F3F46"/>
                </a:solidFill>
                <a:latin typeface="Inter"/>
              </a:rPr>
              <a:t>provodite</a:t>
            </a:r>
            <a:r>
              <a:rPr sz="1500" b="0" dirty="0">
                <a:solidFill>
                  <a:srgbClr val="3F3F46"/>
                </a:solidFill>
                <a:latin typeface="Inter"/>
              </a:rPr>
              <a:t> </a:t>
            </a:r>
            <a:r>
              <a:rPr sz="1500" b="0" dirty="0" err="1">
                <a:solidFill>
                  <a:srgbClr val="3F3F46"/>
                </a:solidFill>
                <a:latin typeface="Inter"/>
              </a:rPr>
              <a:t>sa</a:t>
            </a:r>
            <a:r>
              <a:rPr sz="1500" b="0" dirty="0">
                <a:solidFill>
                  <a:srgbClr val="3F3F46"/>
                </a:solidFill>
                <a:latin typeface="Inter"/>
              </a:rPr>
              <a:t> </a:t>
            </a:r>
            <a:r>
              <a:rPr sz="1500" b="0" dirty="0" err="1">
                <a:solidFill>
                  <a:srgbClr val="3F3F46"/>
                </a:solidFill>
                <a:latin typeface="Inter"/>
              </a:rPr>
              <a:t>pacijentima</a:t>
            </a:r>
            <a:r>
              <a:rPr sz="1500" b="0" dirty="0">
                <a:solidFill>
                  <a:srgbClr val="3F3F46"/>
                </a:solidFill>
                <a:latin typeface="Inter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914400"/>
            <a:ext cx="5212080" cy="1417320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20839" y="1143000"/>
            <a:ext cx="4817039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dirty="0">
                <a:solidFill>
                  <a:srgbClr val="0D1B2A"/>
                </a:solidFill>
                <a:latin typeface="Inter"/>
              </a:rPr>
              <a:t>26–27%</a:t>
            </a:r>
          </a:p>
          <a:p>
            <a:pPr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</a:pPr>
            <a:r>
              <a:rPr sz="1300" b="0" dirty="0" err="1">
                <a:solidFill>
                  <a:srgbClr val="52525B"/>
                </a:solidFill>
                <a:latin typeface="Inter"/>
              </a:rPr>
              <a:t>radnog</a:t>
            </a:r>
            <a:r>
              <a:rPr sz="1300" b="0" dirty="0">
                <a:solidFill>
                  <a:srgbClr val="52525B"/>
                </a:solidFill>
                <a:latin typeface="Inter"/>
              </a:rPr>
              <a:t> </a:t>
            </a:r>
            <a:r>
              <a:rPr sz="1300" b="0" dirty="0" err="1">
                <a:solidFill>
                  <a:srgbClr val="52525B"/>
                </a:solidFill>
                <a:latin typeface="Inter"/>
              </a:rPr>
              <a:t>vremena</a:t>
            </a:r>
            <a:r>
              <a:rPr sz="1300" b="0" dirty="0">
                <a:solidFill>
                  <a:srgbClr val="52525B"/>
                </a:solidFill>
                <a:latin typeface="Inter"/>
              </a:rPr>
              <a:t> </a:t>
            </a:r>
            <a:r>
              <a:rPr lang="hr-HR" sz="1300" dirty="0">
                <a:solidFill>
                  <a:srgbClr val="52525B"/>
                </a:solidFill>
                <a:latin typeface="Inter"/>
              </a:rPr>
              <a:t>ode </a:t>
            </a:r>
            <a:r>
              <a:rPr sz="1300" b="0" dirty="0" err="1">
                <a:solidFill>
                  <a:srgbClr val="52525B"/>
                </a:solidFill>
                <a:latin typeface="Inter"/>
              </a:rPr>
              <a:t>na</a:t>
            </a:r>
            <a:r>
              <a:rPr sz="1300" b="0" dirty="0">
                <a:solidFill>
                  <a:srgbClr val="52525B"/>
                </a:solidFill>
                <a:latin typeface="Inter"/>
              </a:rPr>
              <a:t> </a:t>
            </a:r>
            <a:r>
              <a:rPr sz="1300" b="0" dirty="0" err="1">
                <a:solidFill>
                  <a:srgbClr val="52525B"/>
                </a:solidFill>
                <a:latin typeface="Inter"/>
              </a:rPr>
              <a:t>dokumentaciju</a:t>
            </a:r>
            <a:r>
              <a:rPr sz="1300" b="0" dirty="0">
                <a:solidFill>
                  <a:srgbClr val="52525B"/>
                </a:solidFill>
                <a:latin typeface="Inter"/>
              </a:rPr>
              <a:t> (1</a:t>
            </a:r>
            <a:r>
              <a:rPr lang="hr-HR" sz="1300" b="0" dirty="0">
                <a:solidFill>
                  <a:srgbClr val="52525B"/>
                </a:solidFill>
                <a:latin typeface="Inter"/>
              </a:rPr>
              <a:t>0</a:t>
            </a:r>
            <a:r>
              <a:rPr sz="1300" b="0" dirty="0">
                <a:solidFill>
                  <a:srgbClr val="52525B"/>
                </a:solidFill>
                <a:latin typeface="Inter"/>
              </a:rPr>
              <a:t>–1</a:t>
            </a:r>
            <a:r>
              <a:rPr lang="hr-HR" sz="1300" dirty="0">
                <a:solidFill>
                  <a:srgbClr val="52525B"/>
                </a:solidFill>
                <a:latin typeface="Inter"/>
              </a:rPr>
              <a:t>2</a:t>
            </a:r>
            <a:r>
              <a:rPr sz="1300" b="0" dirty="0">
                <a:solidFill>
                  <a:srgbClr val="52525B"/>
                </a:solidFill>
                <a:latin typeface="Inter"/>
              </a:rPr>
              <a:t> h </a:t>
            </a:r>
            <a:r>
              <a:rPr sz="1300" b="0" dirty="0" err="1">
                <a:solidFill>
                  <a:srgbClr val="52525B"/>
                </a:solidFill>
                <a:latin typeface="Inter"/>
              </a:rPr>
              <a:t>sedmično</a:t>
            </a:r>
            <a:r>
              <a:rPr sz="1300" b="0" dirty="0">
                <a:solidFill>
                  <a:srgbClr val="52525B"/>
                </a:solidFill>
                <a:latin typeface="Inter"/>
              </a:rPr>
              <a:t>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514600"/>
            <a:ext cx="5212080" cy="1417320"/>
          </a:xfrm>
          <a:prstGeom prst="roundRect">
            <a:avLst>
              <a:gd name="adj" fmla="val 5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66560" y="2743200"/>
            <a:ext cx="448056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dirty="0">
                <a:solidFill>
                  <a:srgbClr val="FFFFFF"/>
                </a:solidFill>
                <a:latin typeface="Inter"/>
              </a:rPr>
              <a:t>+1,8 h/</a:t>
            </a:r>
            <a:r>
              <a:rPr lang="hr-HR" sz="3200" b="1" dirty="0">
                <a:solidFill>
                  <a:srgbClr val="FFFFFF"/>
                </a:solidFill>
                <a:latin typeface="Inter"/>
              </a:rPr>
              <a:t>dnevno</a:t>
            </a:r>
            <a:endParaRPr sz="3200" b="1" dirty="0">
              <a:solidFill>
                <a:srgbClr val="FFFFFF"/>
              </a:solidFill>
              <a:latin typeface="Inter"/>
            </a:endParaRPr>
          </a:p>
          <a:p>
            <a:pPr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</a:pPr>
            <a:r>
              <a:rPr sz="1300" b="0" dirty="0" err="1">
                <a:solidFill>
                  <a:srgbClr val="A1A1AA"/>
                </a:solidFill>
                <a:latin typeface="Inter"/>
              </a:rPr>
              <a:t>dokumentacije</a:t>
            </a:r>
            <a:r>
              <a:rPr sz="1300" b="0" dirty="0">
                <a:solidFill>
                  <a:srgbClr val="A1A1AA"/>
                </a:solidFill>
                <a:latin typeface="Inter"/>
              </a:rPr>
              <a:t> </a:t>
            </a:r>
            <a:r>
              <a:rPr lang="hr-HR" sz="1300" dirty="0">
                <a:solidFill>
                  <a:srgbClr val="A1A1AA"/>
                </a:solidFill>
                <a:latin typeface="Inter"/>
              </a:rPr>
              <a:t>tokom ili poslije</a:t>
            </a:r>
            <a:r>
              <a:rPr sz="1300" b="0" dirty="0">
                <a:solidFill>
                  <a:srgbClr val="A1A1AA"/>
                </a:solidFill>
                <a:latin typeface="Inter"/>
              </a:rPr>
              <a:t> </a:t>
            </a:r>
            <a:r>
              <a:rPr sz="1300" b="0" dirty="0" err="1">
                <a:solidFill>
                  <a:srgbClr val="A1A1AA"/>
                </a:solidFill>
                <a:latin typeface="Inter"/>
              </a:rPr>
              <a:t>radnog</a:t>
            </a:r>
            <a:r>
              <a:rPr sz="1300" b="0" dirty="0">
                <a:solidFill>
                  <a:srgbClr val="A1A1AA"/>
                </a:solidFill>
                <a:latin typeface="Inter"/>
              </a:rPr>
              <a:t> </a:t>
            </a:r>
            <a:r>
              <a:rPr sz="1300" b="0" dirty="0" err="1">
                <a:solidFill>
                  <a:srgbClr val="A1A1AA"/>
                </a:solidFill>
                <a:latin typeface="Inter"/>
              </a:rPr>
              <a:t>vremena</a:t>
            </a:r>
            <a:endParaRPr sz="1300" b="0" dirty="0">
              <a:solidFill>
                <a:srgbClr val="A1A1AA"/>
              </a:solidFill>
              <a:latin typeface="Inter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400800" y="4114800"/>
            <a:ext cx="5212080" cy="1417320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20840" y="4343400"/>
            <a:ext cx="457200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dirty="0">
                <a:solidFill>
                  <a:srgbClr val="0D1B2A"/>
                </a:solidFill>
                <a:latin typeface="Inter"/>
              </a:rPr>
              <a:t>54%</a:t>
            </a:r>
          </a:p>
          <a:p>
            <a:pPr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</a:pPr>
            <a:r>
              <a:rPr lang="hr-HR" sz="1300" b="0" dirty="0">
                <a:solidFill>
                  <a:srgbClr val="52525B"/>
                </a:solidFill>
                <a:latin typeface="Inter"/>
              </a:rPr>
              <a:t>doktora</a:t>
            </a:r>
            <a:r>
              <a:rPr sz="1300" b="0" dirty="0">
                <a:solidFill>
                  <a:srgbClr val="52525B"/>
                </a:solidFill>
                <a:latin typeface="Inter"/>
              </a:rPr>
              <a:t> s</a:t>
            </a:r>
            <a:r>
              <a:rPr lang="hr-HR" sz="1300" b="0" dirty="0">
                <a:solidFill>
                  <a:srgbClr val="52525B"/>
                </a:solidFill>
                <a:latin typeface="Inter"/>
              </a:rPr>
              <a:t>a</a:t>
            </a:r>
            <a:r>
              <a:rPr sz="1300" b="0" dirty="0">
                <a:solidFill>
                  <a:srgbClr val="52525B"/>
                </a:solidFill>
                <a:latin typeface="Inter"/>
              </a:rPr>
              <a:t> burnout </a:t>
            </a:r>
            <a:r>
              <a:rPr sz="1300" b="0" dirty="0" err="1">
                <a:solidFill>
                  <a:srgbClr val="52525B"/>
                </a:solidFill>
                <a:latin typeface="Inter"/>
              </a:rPr>
              <a:t>simptomima</a:t>
            </a:r>
            <a:endParaRPr sz="1300" b="0" dirty="0">
              <a:solidFill>
                <a:srgbClr val="52525B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548640"/>
            <a:ext cx="265176" cy="265176"/>
          </a:xfrm>
          <a:prstGeom prst="roundRect">
            <a:avLst>
              <a:gd name="adj" fmla="val 5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57784" y="539496"/>
            <a:ext cx="265176" cy="26517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Inter"/>
              </a:rPr>
              <a:t>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" y="539496"/>
            <a:ext cx="10972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D1B2A"/>
                </a:solidFill>
                <a:latin typeface="Inter"/>
              </a:rPr>
              <a:t>AiMED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80" dirty="0">
                <a:solidFill>
                  <a:srgbClr val="71717A"/>
                </a:solidFill>
                <a:latin typeface="Inter"/>
              </a:rPr>
              <a:t>REALNOST ZDRAVSTVENOG SISTEMA U BIH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731520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dirty="0" err="1">
                <a:solidFill>
                  <a:srgbClr val="0D1B2A"/>
                </a:solidFill>
                <a:latin typeface="Inter"/>
              </a:rPr>
              <a:t>Premalo</a:t>
            </a:r>
            <a:r>
              <a:rPr sz="4400" b="1" dirty="0">
                <a:solidFill>
                  <a:srgbClr val="0D1B2A"/>
                </a:solidFill>
                <a:latin typeface="Inter"/>
              </a:rPr>
              <a:t> </a:t>
            </a:r>
            <a:r>
              <a:rPr lang="hr-HR" sz="4400" b="1" dirty="0">
                <a:solidFill>
                  <a:srgbClr val="0D1B2A"/>
                </a:solidFill>
                <a:latin typeface="Inter"/>
              </a:rPr>
              <a:t>doktora</a:t>
            </a:r>
            <a:r>
              <a:rPr sz="4400" b="1" dirty="0">
                <a:solidFill>
                  <a:srgbClr val="0D1B2A"/>
                </a:solidFill>
                <a:latin typeface="Inter"/>
              </a:rPr>
              <a:t>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dirty="0" err="1">
                <a:solidFill>
                  <a:schemeClr val="bg1">
                    <a:lumMod val="65000"/>
                  </a:schemeClr>
                </a:solidFill>
                <a:latin typeface="Inter"/>
              </a:rPr>
              <a:t>Previše</a:t>
            </a:r>
            <a:r>
              <a:rPr sz="4400" b="1" dirty="0">
                <a:solidFill>
                  <a:schemeClr val="bg1">
                    <a:lumMod val="65000"/>
                  </a:schemeClr>
                </a:solidFill>
                <a:latin typeface="Inter"/>
              </a:rPr>
              <a:t> </a:t>
            </a:r>
            <a:r>
              <a:rPr sz="4400" b="1" dirty="0" err="1">
                <a:solidFill>
                  <a:schemeClr val="bg1">
                    <a:lumMod val="65000"/>
                  </a:schemeClr>
                </a:solidFill>
                <a:latin typeface="Inter"/>
              </a:rPr>
              <a:t>papira</a:t>
            </a:r>
            <a:r>
              <a:rPr sz="4400" b="1" dirty="0">
                <a:solidFill>
                  <a:schemeClr val="bg1">
                    <a:lumMod val="65000"/>
                  </a:schemeClr>
                </a:solidFill>
                <a:latin typeface="Inter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54680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D1B2A"/>
                </a:solidFill>
                <a:latin typeface="Inter"/>
              </a:rPr>
              <a:t>🇪🇺  EU prosjek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08960" y="3172968"/>
            <a:ext cx="5338795" cy="274320"/>
          </a:xfrm>
          <a:prstGeom prst="roundRect">
            <a:avLst>
              <a:gd name="adj" fmla="val 50000"/>
            </a:avLst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62141" y="3067710"/>
            <a:ext cx="3629859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52525B"/>
                </a:solidFill>
                <a:latin typeface="Inter"/>
              </a:rPr>
              <a:t>3,</a:t>
            </a:r>
            <a:r>
              <a:rPr lang="hr-HR" sz="1400" dirty="0">
                <a:solidFill>
                  <a:srgbClr val="52525B"/>
                </a:solidFill>
                <a:latin typeface="Inter"/>
              </a:rPr>
              <a:t>6</a:t>
            </a:r>
            <a:r>
              <a:rPr sz="1400" dirty="0">
                <a:solidFill>
                  <a:srgbClr val="52525B"/>
                </a:solidFill>
                <a:latin typeface="Inter"/>
              </a:rPr>
              <a:t> </a:t>
            </a:r>
            <a:r>
              <a:rPr lang="hr-HR" sz="1400" dirty="0">
                <a:solidFill>
                  <a:srgbClr val="52525B"/>
                </a:solidFill>
                <a:latin typeface="Inter"/>
              </a:rPr>
              <a:t>doktora</a:t>
            </a:r>
            <a:r>
              <a:rPr sz="1400" dirty="0">
                <a:solidFill>
                  <a:srgbClr val="52525B"/>
                </a:solidFill>
                <a:latin typeface="Inter"/>
              </a:rPr>
              <a:t> / 1.000 stan. (Eurostat 2022)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03320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D1B2A"/>
                </a:solidFill>
                <a:latin typeface="Inter"/>
              </a:rPr>
              <a:t>🇧🇦  BiH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08960" y="3721608"/>
            <a:ext cx="2987040" cy="274320"/>
          </a:xfrm>
          <a:prstGeom prst="roundRect">
            <a:avLst>
              <a:gd name="adj" fmla="val 50000"/>
            </a:avLst>
          </a:prstGeom>
          <a:solidFill>
            <a:srgbClr val="D4D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47755" y="3615425"/>
            <a:ext cx="5029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52525B"/>
                </a:solidFill>
                <a:latin typeface="Inter"/>
              </a:rPr>
              <a:t>~2,0 </a:t>
            </a:r>
            <a:r>
              <a:rPr sz="1400" dirty="0" err="1">
                <a:solidFill>
                  <a:srgbClr val="52525B"/>
                </a:solidFill>
                <a:latin typeface="Inter"/>
              </a:rPr>
              <a:t>ljekara</a:t>
            </a:r>
            <a:r>
              <a:rPr sz="1400" dirty="0">
                <a:solidFill>
                  <a:srgbClr val="52525B"/>
                </a:solidFill>
                <a:latin typeface="Inter"/>
              </a:rPr>
              <a:t> / 1.000 stan.  ← </a:t>
            </a:r>
            <a:r>
              <a:rPr sz="1400" b="1" dirty="0">
                <a:solidFill>
                  <a:srgbClr val="52525B"/>
                </a:solidFill>
                <a:latin typeface="Inter"/>
              </a:rPr>
              <a:t>46% </a:t>
            </a:r>
            <a:r>
              <a:rPr sz="1400" b="1" dirty="0" err="1">
                <a:solidFill>
                  <a:srgbClr val="52525B"/>
                </a:solidFill>
                <a:latin typeface="Inter"/>
              </a:rPr>
              <a:t>manje</a:t>
            </a:r>
            <a:endParaRPr sz="1400" b="1" dirty="0">
              <a:solidFill>
                <a:srgbClr val="52525B"/>
              </a:solidFill>
              <a:latin typeface="Inter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7613" y="4251960"/>
            <a:ext cx="32004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hr-HR" sz="4800" b="1" dirty="0">
                <a:solidFill>
                  <a:srgbClr val="0D1B2A"/>
                </a:solidFill>
                <a:latin typeface="Inter"/>
              </a:rPr>
              <a:t>&lt;</a:t>
            </a:r>
            <a:r>
              <a:rPr sz="4800" b="1" dirty="0">
                <a:solidFill>
                  <a:srgbClr val="0D1B2A"/>
                </a:solidFill>
                <a:latin typeface="Inter"/>
              </a:rPr>
              <a:t>5.800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dirty="0" err="1">
                <a:solidFill>
                  <a:srgbClr val="52525B"/>
                </a:solidFill>
                <a:latin typeface="Inter"/>
              </a:rPr>
              <a:t>aktivnih</a:t>
            </a:r>
            <a:r>
              <a:rPr sz="1300" b="0" dirty="0">
                <a:solidFill>
                  <a:srgbClr val="52525B"/>
                </a:solidFill>
                <a:latin typeface="Inter"/>
              </a:rPr>
              <a:t> </a:t>
            </a:r>
            <a:r>
              <a:rPr lang="hr-HR" sz="1300" b="0" dirty="0">
                <a:solidFill>
                  <a:srgbClr val="52525B"/>
                </a:solidFill>
                <a:latin typeface="Inter"/>
              </a:rPr>
              <a:t>doktora</a:t>
            </a:r>
            <a:r>
              <a:rPr sz="1300" b="0" dirty="0">
                <a:solidFill>
                  <a:srgbClr val="52525B"/>
                </a:solidFill>
                <a:latin typeface="Inter"/>
              </a:rPr>
              <a:t> u </a:t>
            </a:r>
            <a:r>
              <a:rPr lang="hr-HR" sz="1300" b="0" dirty="0">
                <a:solidFill>
                  <a:srgbClr val="52525B"/>
                </a:solidFill>
                <a:latin typeface="Inter"/>
              </a:rPr>
              <a:t>F</a:t>
            </a:r>
            <a:r>
              <a:rPr sz="1300" b="0" dirty="0">
                <a:solidFill>
                  <a:srgbClr val="52525B"/>
                </a:solidFill>
                <a:latin typeface="Inter"/>
              </a:rPr>
              <a:t>BiH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39453" y="4251960"/>
            <a:ext cx="32004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 dirty="0">
                <a:solidFill>
                  <a:srgbClr val="0D1B2A"/>
                </a:solidFill>
                <a:latin typeface="Inter"/>
              </a:rPr>
              <a:t>746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dirty="0" err="1">
                <a:solidFill>
                  <a:srgbClr val="52525B"/>
                </a:solidFill>
                <a:latin typeface="Inter"/>
              </a:rPr>
              <a:t>ljekara</a:t>
            </a:r>
            <a:r>
              <a:rPr sz="1300" b="0" dirty="0">
                <a:solidFill>
                  <a:srgbClr val="52525B"/>
                </a:solidFill>
                <a:latin typeface="Inter"/>
              </a:rPr>
              <a:t> </a:t>
            </a:r>
            <a:r>
              <a:rPr sz="1300" b="0" dirty="0" err="1">
                <a:solidFill>
                  <a:srgbClr val="52525B"/>
                </a:solidFill>
                <a:latin typeface="Inter"/>
              </a:rPr>
              <a:t>porod</a:t>
            </a:r>
            <a:r>
              <a:rPr lang="hr-HR" sz="1300" b="0" dirty="0" err="1">
                <a:solidFill>
                  <a:srgbClr val="52525B"/>
                </a:solidFill>
                <a:latin typeface="Inter"/>
              </a:rPr>
              <a:t>ične</a:t>
            </a:r>
            <a:r>
              <a:rPr sz="1300" b="0" dirty="0">
                <a:solidFill>
                  <a:srgbClr val="52525B"/>
                </a:solidFill>
                <a:latin typeface="Inter"/>
              </a:rPr>
              <a:t> medicine</a:t>
            </a:r>
            <a:r>
              <a:rPr lang="hr-HR" sz="1300" b="0" dirty="0">
                <a:solidFill>
                  <a:srgbClr val="52525B"/>
                </a:solidFill>
                <a:latin typeface="Inter"/>
              </a:rPr>
              <a:t>;</a:t>
            </a:r>
            <a:br>
              <a:rPr lang="hr-HR" sz="1300" b="0" dirty="0">
                <a:solidFill>
                  <a:srgbClr val="52525B"/>
                </a:solidFill>
                <a:latin typeface="Inter"/>
              </a:rPr>
            </a:br>
            <a:r>
              <a:rPr sz="1300" b="0" dirty="0" err="1">
                <a:solidFill>
                  <a:srgbClr val="52525B"/>
                </a:solidFill>
                <a:latin typeface="Inter"/>
              </a:rPr>
              <a:t>nedostaje</a:t>
            </a:r>
            <a:r>
              <a:rPr sz="1300" b="0" dirty="0">
                <a:solidFill>
                  <a:srgbClr val="52525B"/>
                </a:solidFill>
                <a:latin typeface="Inter"/>
              </a:rPr>
              <a:t> ~50% (RTVBN 2023)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24064" y="4251960"/>
            <a:ext cx="4420323" cy="2231033"/>
          </a:xfrm>
          <a:prstGeom prst="roundRect">
            <a:avLst>
              <a:gd name="adj" fmla="val 5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83676" y="4494686"/>
            <a:ext cx="3901098" cy="164977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 err="1">
                <a:solidFill>
                  <a:srgbClr val="FFFFFF"/>
                </a:solidFill>
                <a:latin typeface="Inter"/>
              </a:rPr>
              <a:t>Svaki</a:t>
            </a:r>
            <a:r>
              <a:rPr sz="1400" b="1" dirty="0">
                <a:solidFill>
                  <a:srgbClr val="FFFFFF"/>
                </a:solidFill>
                <a:latin typeface="Inter"/>
              </a:rPr>
              <a:t> </a:t>
            </a:r>
            <a:r>
              <a:rPr lang="hr-HR" sz="1400" b="1" dirty="0">
                <a:solidFill>
                  <a:srgbClr val="FFFFFF"/>
                </a:solidFill>
                <a:latin typeface="Inter"/>
              </a:rPr>
              <a:t>doktor</a:t>
            </a:r>
            <a:r>
              <a:rPr sz="1400" b="1" dirty="0">
                <a:solidFill>
                  <a:srgbClr val="FFFFFF"/>
                </a:solidFill>
                <a:latin typeface="Inter"/>
              </a:rPr>
              <a:t> u BiH de facto </a:t>
            </a:r>
            <a:r>
              <a:rPr sz="1400" b="1" dirty="0" err="1">
                <a:solidFill>
                  <a:srgbClr val="FFFFFF"/>
                </a:solidFill>
                <a:latin typeface="Inter"/>
              </a:rPr>
              <a:t>radi</a:t>
            </a:r>
            <a:r>
              <a:rPr sz="1400" b="1" dirty="0">
                <a:solidFill>
                  <a:srgbClr val="FFFFFF"/>
                </a:solidFill>
                <a:latin typeface="Inter"/>
              </a:rPr>
              <a:t> za </a:t>
            </a:r>
            <a:r>
              <a:rPr sz="1400" b="1" dirty="0" err="1">
                <a:solidFill>
                  <a:srgbClr val="FFFFFF"/>
                </a:solidFill>
                <a:latin typeface="Inter"/>
              </a:rPr>
              <a:t>dvojicu</a:t>
            </a:r>
            <a:r>
              <a:rPr sz="1400" b="1" dirty="0">
                <a:solidFill>
                  <a:srgbClr val="FFFFFF"/>
                </a:solidFill>
                <a:latin typeface="Inter"/>
              </a:rPr>
              <a:t>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1400" b="1" dirty="0">
              <a:solidFill>
                <a:srgbClr val="FFFFFF"/>
              </a:solidFill>
              <a:latin typeface="Inter"/>
            </a:endParaRPr>
          </a:p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dirty="0">
                <a:solidFill>
                  <a:schemeClr val="bg1">
                    <a:lumMod val="85000"/>
                  </a:schemeClr>
                </a:solidFill>
                <a:latin typeface="Inter"/>
              </a:rPr>
              <a:t>A </a:t>
            </a:r>
            <a:r>
              <a:rPr sz="1400" b="0" dirty="0" err="1">
                <a:solidFill>
                  <a:schemeClr val="bg1">
                    <a:lumMod val="85000"/>
                  </a:schemeClr>
                </a:solidFill>
                <a:latin typeface="Inter"/>
              </a:rPr>
              <a:t>zatim</a:t>
            </a:r>
            <a:r>
              <a:rPr sz="1400" b="0" dirty="0">
                <a:solidFill>
                  <a:schemeClr val="bg1">
                    <a:lumMod val="85000"/>
                  </a:schemeClr>
                </a:solidFill>
                <a:latin typeface="Inter"/>
              </a:rPr>
              <a:t> </a:t>
            </a:r>
            <a:r>
              <a:rPr sz="1400" b="0" dirty="0" err="1">
                <a:solidFill>
                  <a:schemeClr val="bg1">
                    <a:lumMod val="85000"/>
                  </a:schemeClr>
                </a:solidFill>
                <a:latin typeface="Inter"/>
              </a:rPr>
              <a:t>provede</a:t>
            </a:r>
            <a:r>
              <a:rPr sz="1400" b="0" dirty="0">
                <a:solidFill>
                  <a:schemeClr val="bg1">
                    <a:lumMod val="85000"/>
                  </a:schemeClr>
                </a:solidFill>
                <a:latin typeface="Inter"/>
              </a:rPr>
              <a:t> </a:t>
            </a:r>
            <a:r>
              <a:rPr sz="1400" b="0" dirty="0" err="1">
                <a:solidFill>
                  <a:schemeClr val="bg1">
                    <a:lumMod val="85000"/>
                  </a:schemeClr>
                </a:solidFill>
                <a:latin typeface="Inter"/>
              </a:rPr>
              <a:t>trećinu</a:t>
            </a:r>
            <a:r>
              <a:rPr sz="1400" b="0" dirty="0">
                <a:solidFill>
                  <a:schemeClr val="bg1">
                    <a:lumMod val="85000"/>
                  </a:schemeClr>
                </a:solidFill>
                <a:latin typeface="Inter"/>
              </a:rPr>
              <a:t> tog </a:t>
            </a:r>
            <a:r>
              <a:rPr sz="1400" b="0" dirty="0" err="1">
                <a:solidFill>
                  <a:schemeClr val="bg1">
                    <a:lumMod val="85000"/>
                  </a:schemeClr>
                </a:solidFill>
                <a:latin typeface="Inter"/>
              </a:rPr>
              <a:t>pretrpanog</a:t>
            </a:r>
            <a:r>
              <a:rPr sz="1400" b="0" dirty="0">
                <a:solidFill>
                  <a:schemeClr val="bg1">
                    <a:lumMod val="85000"/>
                  </a:schemeClr>
                </a:solidFill>
                <a:latin typeface="Inter"/>
              </a:rPr>
              <a:t> </a:t>
            </a:r>
            <a:r>
              <a:rPr sz="1400" b="0" dirty="0" err="1">
                <a:solidFill>
                  <a:schemeClr val="bg1">
                    <a:lumMod val="85000"/>
                  </a:schemeClr>
                </a:solidFill>
                <a:latin typeface="Inter"/>
              </a:rPr>
              <a:t>radnog</a:t>
            </a:r>
            <a:r>
              <a:rPr sz="1400" b="0" dirty="0">
                <a:solidFill>
                  <a:schemeClr val="bg1">
                    <a:lumMod val="85000"/>
                  </a:schemeClr>
                </a:solidFill>
                <a:latin typeface="Inter"/>
              </a:rPr>
              <a:t> dana ne s </a:t>
            </a:r>
            <a:r>
              <a:rPr sz="1400" b="0" dirty="0" err="1">
                <a:solidFill>
                  <a:schemeClr val="bg1">
                    <a:lumMod val="85000"/>
                  </a:schemeClr>
                </a:solidFill>
                <a:latin typeface="Inter"/>
              </a:rPr>
              <a:t>pacijentima</a:t>
            </a:r>
            <a:r>
              <a:rPr lang="hr-HR" sz="1400" dirty="0">
                <a:solidFill>
                  <a:schemeClr val="bg1">
                    <a:lumMod val="85000"/>
                  </a:schemeClr>
                </a:solidFill>
                <a:latin typeface="Inter"/>
              </a:rPr>
              <a:t> </a:t>
            </a:r>
            <a:r>
              <a:rPr sz="1400" b="0" dirty="0" err="1">
                <a:solidFill>
                  <a:schemeClr val="bg1">
                    <a:lumMod val="85000"/>
                  </a:schemeClr>
                </a:solidFill>
                <a:latin typeface="Inter"/>
              </a:rPr>
              <a:t>nego</a:t>
            </a:r>
            <a:r>
              <a:rPr sz="1400" b="0" dirty="0">
                <a:solidFill>
                  <a:schemeClr val="bg1">
                    <a:lumMod val="85000"/>
                  </a:schemeClr>
                </a:solidFill>
                <a:latin typeface="Inter"/>
              </a:rPr>
              <a:t> </a:t>
            </a:r>
            <a:r>
              <a:rPr sz="1400" b="0" dirty="0" err="1">
                <a:solidFill>
                  <a:schemeClr val="bg1">
                    <a:lumMod val="85000"/>
                  </a:schemeClr>
                </a:solidFill>
                <a:latin typeface="Inter"/>
              </a:rPr>
              <a:t>na</a:t>
            </a:r>
            <a:r>
              <a:rPr sz="1400" b="0" dirty="0">
                <a:solidFill>
                  <a:schemeClr val="bg1">
                    <a:lumMod val="85000"/>
                  </a:schemeClr>
                </a:solidFill>
                <a:latin typeface="Inter"/>
              </a:rPr>
              <a:t> </a:t>
            </a:r>
            <a:r>
              <a:rPr sz="1400" b="0" dirty="0" err="1">
                <a:solidFill>
                  <a:schemeClr val="bg1">
                    <a:lumMod val="85000"/>
                  </a:schemeClr>
                </a:solidFill>
                <a:latin typeface="Inter"/>
              </a:rPr>
              <a:t>administracij</a:t>
            </a:r>
            <a:r>
              <a:rPr lang="hr-HR" sz="1400" dirty="0">
                <a:solidFill>
                  <a:schemeClr val="bg1">
                    <a:lumMod val="85000"/>
                  </a:schemeClr>
                </a:solidFill>
                <a:latin typeface="Inter"/>
              </a:rPr>
              <a:t>i</a:t>
            </a:r>
            <a:endParaRPr sz="1400" b="0" dirty="0">
              <a:solidFill>
                <a:schemeClr val="bg1">
                  <a:lumMod val="85000"/>
                </a:schemeClr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548640"/>
            <a:ext cx="265176" cy="265176"/>
          </a:xfrm>
          <a:prstGeom prst="roundRect">
            <a:avLst>
              <a:gd name="adj" fmla="val 5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57784" y="539496"/>
            <a:ext cx="265176" cy="26517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Inter"/>
              </a:rPr>
              <a:t>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" y="539496"/>
            <a:ext cx="10972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D1B2A"/>
                </a:solidFill>
                <a:latin typeface="Inter"/>
              </a:rPr>
              <a:t>AiMED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80" dirty="0">
                <a:solidFill>
                  <a:srgbClr val="71717A"/>
                </a:solidFill>
                <a:latin typeface="Inter"/>
              </a:rPr>
              <a:t>NAŠE RJEŠENJE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35608"/>
            <a:ext cx="685800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dirty="0" err="1">
                <a:solidFill>
                  <a:srgbClr val="0D1B2A"/>
                </a:solidFill>
                <a:latin typeface="Inter"/>
              </a:rPr>
              <a:t>Govorite</a:t>
            </a:r>
            <a:r>
              <a:rPr sz="4400" b="1" dirty="0">
                <a:solidFill>
                  <a:srgbClr val="0D1B2A"/>
                </a:solidFill>
                <a:latin typeface="Inter"/>
              </a:rPr>
              <a:t> </a:t>
            </a:r>
            <a:r>
              <a:rPr sz="4400" b="1" dirty="0" err="1">
                <a:solidFill>
                  <a:srgbClr val="0D1B2A"/>
                </a:solidFill>
                <a:latin typeface="Inter"/>
              </a:rPr>
              <a:t>slobodno</a:t>
            </a:r>
            <a:r>
              <a:rPr sz="4400" b="1" dirty="0">
                <a:solidFill>
                  <a:srgbClr val="0D1B2A"/>
                </a:solidFill>
                <a:latin typeface="Inter"/>
              </a:rPr>
              <a:t>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dirty="0" err="1">
                <a:solidFill>
                  <a:schemeClr val="bg1">
                    <a:lumMod val="65000"/>
                  </a:schemeClr>
                </a:solidFill>
                <a:latin typeface="Inter"/>
              </a:rPr>
              <a:t>AiMED</a:t>
            </a:r>
            <a:r>
              <a:rPr sz="4400" b="1" dirty="0">
                <a:solidFill>
                  <a:schemeClr val="bg1">
                    <a:lumMod val="65000"/>
                  </a:schemeClr>
                </a:solidFill>
                <a:latin typeface="Inter"/>
              </a:rPr>
              <a:t> </a:t>
            </a:r>
            <a:r>
              <a:rPr lang="hr-HR" sz="4400" b="1" dirty="0">
                <a:solidFill>
                  <a:schemeClr val="bg1">
                    <a:lumMod val="65000"/>
                  </a:schemeClr>
                </a:solidFill>
                <a:latin typeface="Inter"/>
              </a:rPr>
              <a:t>brine za </a:t>
            </a:r>
            <a:r>
              <a:rPr sz="4400" b="1" dirty="0" err="1">
                <a:solidFill>
                  <a:schemeClr val="bg1">
                    <a:lumMod val="65000"/>
                  </a:schemeClr>
                </a:solidFill>
                <a:latin typeface="Inter"/>
              </a:rPr>
              <a:t>ostalo</a:t>
            </a:r>
            <a:r>
              <a:rPr sz="4400" b="1" dirty="0">
                <a:solidFill>
                  <a:schemeClr val="bg1">
                    <a:lumMod val="65000"/>
                  </a:schemeClr>
                </a:solidFill>
                <a:latin typeface="Inter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13018"/>
            <a:ext cx="6537960" cy="3590229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dirty="0" err="1">
                <a:solidFill>
                  <a:srgbClr val="3F3F46"/>
                </a:solidFill>
                <a:latin typeface="Inter"/>
              </a:rPr>
              <a:t>AiMED</a:t>
            </a:r>
            <a:r>
              <a:rPr sz="1500" b="0" dirty="0">
                <a:solidFill>
                  <a:srgbClr val="3F3F46"/>
                </a:solidFill>
                <a:latin typeface="Inter"/>
              </a:rPr>
              <a:t> je web-</a:t>
            </a:r>
            <a:r>
              <a:rPr sz="1500" b="0" dirty="0" err="1">
                <a:solidFill>
                  <a:srgbClr val="3F3F46"/>
                </a:solidFill>
                <a:latin typeface="Inter"/>
              </a:rPr>
              <a:t>aplikacija</a:t>
            </a:r>
            <a:r>
              <a:rPr sz="1500" b="0" dirty="0">
                <a:solidFill>
                  <a:srgbClr val="3F3F46"/>
                </a:solidFill>
                <a:latin typeface="Inter"/>
              </a:rPr>
              <a:t> </a:t>
            </a:r>
            <a:r>
              <a:rPr sz="1500" b="0" dirty="0" err="1">
                <a:solidFill>
                  <a:srgbClr val="3F3F46"/>
                </a:solidFill>
                <a:latin typeface="Inter"/>
              </a:rPr>
              <a:t>kojoj</a:t>
            </a:r>
            <a:r>
              <a:rPr sz="1500" b="0" dirty="0">
                <a:solidFill>
                  <a:srgbClr val="3F3F46"/>
                </a:solidFill>
                <a:latin typeface="Inter"/>
              </a:rPr>
              <a:t> </a:t>
            </a:r>
            <a:r>
              <a:rPr sz="1500" b="0" dirty="0" err="1">
                <a:solidFill>
                  <a:srgbClr val="3F3F46"/>
                </a:solidFill>
                <a:latin typeface="Inter"/>
              </a:rPr>
              <a:t>pristupate</a:t>
            </a:r>
            <a:r>
              <a:rPr sz="1500" b="0" dirty="0">
                <a:solidFill>
                  <a:srgbClr val="3F3F46"/>
                </a:solidFill>
                <a:latin typeface="Inter"/>
              </a:rPr>
              <a:t> </a:t>
            </a:r>
            <a:r>
              <a:rPr sz="1500" b="0" dirty="0" err="1">
                <a:solidFill>
                  <a:srgbClr val="3F3F46"/>
                </a:solidFill>
                <a:latin typeface="Inter"/>
              </a:rPr>
              <a:t>iz</a:t>
            </a:r>
            <a:r>
              <a:rPr sz="1500" b="0" dirty="0">
                <a:solidFill>
                  <a:srgbClr val="3F3F46"/>
                </a:solidFill>
                <a:latin typeface="Inter"/>
              </a:rPr>
              <a:t> </a:t>
            </a:r>
            <a:r>
              <a:rPr sz="1500" b="0" dirty="0" err="1">
                <a:solidFill>
                  <a:srgbClr val="3F3F46"/>
                </a:solidFill>
                <a:latin typeface="Inter"/>
              </a:rPr>
              <a:t>vašeg</a:t>
            </a:r>
            <a:r>
              <a:rPr sz="1500" b="0" dirty="0">
                <a:solidFill>
                  <a:srgbClr val="3F3F46"/>
                </a:solidFill>
                <a:latin typeface="Inter"/>
              </a:rPr>
              <a:t> </a:t>
            </a:r>
            <a:r>
              <a:rPr sz="1500" b="0" dirty="0" err="1">
                <a:solidFill>
                  <a:srgbClr val="3F3F46"/>
                </a:solidFill>
                <a:latin typeface="Inter"/>
              </a:rPr>
              <a:t>preglednika</a:t>
            </a:r>
            <a:r>
              <a:rPr lang="hr-HR" sz="1500" dirty="0">
                <a:solidFill>
                  <a:srgbClr val="3F3F46"/>
                </a:solidFill>
                <a:latin typeface="Inter"/>
              </a:rPr>
              <a:t>, </a:t>
            </a:r>
            <a:r>
              <a:rPr sz="1500" b="0" dirty="0" err="1">
                <a:solidFill>
                  <a:srgbClr val="3F3F46"/>
                </a:solidFill>
                <a:latin typeface="Inter"/>
              </a:rPr>
              <a:t>iste</a:t>
            </a:r>
            <a:r>
              <a:rPr sz="1500" b="0" dirty="0">
                <a:solidFill>
                  <a:srgbClr val="3F3F46"/>
                </a:solidFill>
                <a:latin typeface="Inter"/>
              </a:rPr>
              <a:t> </a:t>
            </a:r>
            <a:r>
              <a:rPr sz="1500" b="0" dirty="0" err="1">
                <a:solidFill>
                  <a:srgbClr val="3F3F46"/>
                </a:solidFill>
                <a:latin typeface="Inter"/>
              </a:rPr>
              <a:t>kao</a:t>
            </a:r>
            <a:r>
              <a:rPr sz="1500" b="0" dirty="0">
                <a:solidFill>
                  <a:srgbClr val="3F3F46"/>
                </a:solidFill>
                <a:latin typeface="Inter"/>
              </a:rPr>
              <a:t> </a:t>
            </a:r>
            <a:r>
              <a:rPr sz="1500" b="0" dirty="0" err="1">
                <a:solidFill>
                  <a:srgbClr val="3F3F46"/>
                </a:solidFill>
                <a:latin typeface="Inter"/>
              </a:rPr>
              <a:t>što</a:t>
            </a:r>
            <a:r>
              <a:rPr sz="1500" b="0" dirty="0">
                <a:solidFill>
                  <a:srgbClr val="3F3F46"/>
                </a:solidFill>
                <a:latin typeface="Inter"/>
              </a:rPr>
              <a:t> </a:t>
            </a:r>
            <a:r>
              <a:rPr sz="1500" b="0" dirty="0" err="1">
                <a:solidFill>
                  <a:srgbClr val="3F3F46"/>
                </a:solidFill>
                <a:latin typeface="Inter"/>
              </a:rPr>
              <a:t>otvarate</a:t>
            </a:r>
            <a:r>
              <a:rPr sz="1500" b="0" dirty="0">
                <a:solidFill>
                  <a:srgbClr val="3F3F46"/>
                </a:solidFill>
                <a:latin typeface="Inter"/>
              </a:rPr>
              <a:t> email </a:t>
            </a:r>
            <a:r>
              <a:rPr sz="1500" b="0" dirty="0" err="1">
                <a:solidFill>
                  <a:srgbClr val="3F3F46"/>
                </a:solidFill>
                <a:latin typeface="Inter"/>
              </a:rPr>
              <a:t>ili</a:t>
            </a:r>
            <a:r>
              <a:rPr sz="1500" b="0" dirty="0">
                <a:solidFill>
                  <a:srgbClr val="3F3F46"/>
                </a:solidFill>
                <a:latin typeface="Inter"/>
              </a:rPr>
              <a:t> </a:t>
            </a:r>
            <a:r>
              <a:rPr sz="1500" b="0" dirty="0" err="1">
                <a:solidFill>
                  <a:srgbClr val="3F3F46"/>
                </a:solidFill>
                <a:latin typeface="Inter"/>
              </a:rPr>
              <a:t>neku</a:t>
            </a:r>
            <a:r>
              <a:rPr sz="1500" b="0" dirty="0">
                <a:solidFill>
                  <a:srgbClr val="3F3F46"/>
                </a:solidFill>
                <a:latin typeface="Inter"/>
              </a:rPr>
              <a:t> web </a:t>
            </a:r>
            <a:r>
              <a:rPr sz="1500" b="0" dirty="0" err="1">
                <a:solidFill>
                  <a:srgbClr val="3F3F46"/>
                </a:solidFill>
                <a:latin typeface="Inter"/>
              </a:rPr>
              <a:t>stranicu</a:t>
            </a:r>
            <a:r>
              <a:rPr lang="hr-HR" sz="1500" dirty="0">
                <a:solidFill>
                  <a:srgbClr val="3F3F46"/>
                </a:solidFill>
                <a:latin typeface="Inter"/>
              </a:rPr>
              <a:t>, tako da n</a:t>
            </a:r>
            <a:r>
              <a:rPr sz="1500" b="0" dirty="0">
                <a:solidFill>
                  <a:srgbClr val="3F3F46"/>
                </a:solidFill>
                <a:latin typeface="Inter"/>
              </a:rPr>
              <a:t>e </a:t>
            </a:r>
            <a:r>
              <a:rPr lang="hr-HR" sz="1500" b="0" dirty="0">
                <a:solidFill>
                  <a:srgbClr val="3F3F46"/>
                </a:solidFill>
                <a:latin typeface="Inter"/>
              </a:rPr>
              <a:t>zahtjeva</a:t>
            </a:r>
            <a:r>
              <a:rPr sz="1500" b="0" dirty="0">
                <a:solidFill>
                  <a:srgbClr val="3F3F46"/>
                </a:solidFill>
                <a:latin typeface="Inter"/>
              </a:rPr>
              <a:t> </a:t>
            </a:r>
            <a:r>
              <a:rPr sz="1500" b="0" dirty="0" err="1">
                <a:solidFill>
                  <a:srgbClr val="3F3F46"/>
                </a:solidFill>
                <a:latin typeface="Inter"/>
              </a:rPr>
              <a:t>instalacij</a:t>
            </a:r>
            <a:r>
              <a:rPr lang="hr-HR" sz="1500" b="0" dirty="0">
                <a:solidFill>
                  <a:srgbClr val="3F3F46"/>
                </a:solidFill>
                <a:latin typeface="Inter"/>
              </a:rPr>
              <a:t>u niti </a:t>
            </a:r>
            <a:r>
              <a:rPr sz="1500" b="0" dirty="0" err="1">
                <a:solidFill>
                  <a:srgbClr val="3F3F46"/>
                </a:solidFill>
                <a:latin typeface="Inter"/>
              </a:rPr>
              <a:t>poseban</a:t>
            </a:r>
            <a:r>
              <a:rPr sz="1500" b="0" dirty="0">
                <a:solidFill>
                  <a:srgbClr val="3F3F46"/>
                </a:solidFill>
                <a:latin typeface="Inter"/>
              </a:rPr>
              <a:t> </a:t>
            </a:r>
            <a:r>
              <a:rPr lang="hr-HR" sz="1500" b="0" dirty="0">
                <a:solidFill>
                  <a:srgbClr val="3F3F46"/>
                </a:solidFill>
                <a:latin typeface="Inter"/>
              </a:rPr>
              <a:t>uređaj</a:t>
            </a:r>
            <a:r>
              <a:rPr sz="1500" b="0" dirty="0">
                <a:solidFill>
                  <a:srgbClr val="3F3F46"/>
                </a:solidFill>
                <a:latin typeface="Inter"/>
              </a:rPr>
              <a:t>.</a:t>
            </a:r>
            <a:endParaRPr lang="hr-HR" sz="1500" dirty="0">
              <a:solidFill>
                <a:srgbClr val="3F3F46"/>
              </a:solidFill>
              <a:latin typeface="Inter"/>
            </a:endParaRPr>
          </a:p>
          <a:p>
            <a:pPr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</a:pPr>
            <a:endParaRPr lang="hr-HR" sz="1500" b="0" dirty="0">
              <a:solidFill>
                <a:srgbClr val="3F3F46"/>
              </a:solidFill>
              <a:latin typeface="Inter"/>
            </a:endParaRPr>
          </a:p>
          <a:p>
            <a:pPr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dirty="0" err="1">
                <a:solidFill>
                  <a:srgbClr val="3F3F46"/>
                </a:solidFill>
                <a:latin typeface="Inter"/>
              </a:rPr>
              <a:t>Govorite</a:t>
            </a:r>
            <a:r>
              <a:rPr sz="1500" b="0" dirty="0">
                <a:solidFill>
                  <a:srgbClr val="3F3F46"/>
                </a:solidFill>
                <a:latin typeface="Inter"/>
              </a:rPr>
              <a:t> </a:t>
            </a:r>
            <a:r>
              <a:rPr sz="1500" b="0" dirty="0" err="1">
                <a:solidFill>
                  <a:srgbClr val="3F3F46"/>
                </a:solidFill>
                <a:latin typeface="Inter"/>
              </a:rPr>
              <a:t>na</a:t>
            </a:r>
            <a:r>
              <a:rPr sz="1500" b="0" dirty="0">
                <a:solidFill>
                  <a:srgbClr val="3F3F46"/>
                </a:solidFill>
                <a:latin typeface="Inter"/>
              </a:rPr>
              <a:t> </a:t>
            </a:r>
            <a:r>
              <a:rPr sz="1500" b="0" dirty="0" err="1">
                <a:solidFill>
                  <a:srgbClr val="3F3F46"/>
                </a:solidFill>
                <a:latin typeface="Inter"/>
              </a:rPr>
              <a:t>bosanskom</a:t>
            </a:r>
            <a:r>
              <a:rPr sz="1500" b="0" dirty="0">
                <a:solidFill>
                  <a:srgbClr val="3F3F46"/>
                </a:solidFill>
                <a:latin typeface="Inter"/>
              </a:rPr>
              <a:t>, </a:t>
            </a:r>
            <a:r>
              <a:rPr sz="1500" b="0" dirty="0" err="1">
                <a:solidFill>
                  <a:srgbClr val="3F3F46"/>
                </a:solidFill>
                <a:latin typeface="Inter"/>
              </a:rPr>
              <a:t>hrvatskom</a:t>
            </a:r>
            <a:r>
              <a:rPr sz="1500" b="0" dirty="0">
                <a:solidFill>
                  <a:srgbClr val="3F3F46"/>
                </a:solidFill>
                <a:latin typeface="Inter"/>
              </a:rPr>
              <a:t> </a:t>
            </a:r>
            <a:r>
              <a:rPr sz="1500" b="0" dirty="0" err="1">
                <a:solidFill>
                  <a:srgbClr val="3F3F46"/>
                </a:solidFill>
                <a:latin typeface="Inter"/>
              </a:rPr>
              <a:t>ili</a:t>
            </a:r>
            <a:r>
              <a:rPr sz="1500" b="0" dirty="0">
                <a:solidFill>
                  <a:srgbClr val="3F3F46"/>
                </a:solidFill>
                <a:latin typeface="Inter"/>
              </a:rPr>
              <a:t> </a:t>
            </a:r>
            <a:r>
              <a:rPr sz="1500" b="0" dirty="0" err="1">
                <a:solidFill>
                  <a:srgbClr val="3F3F46"/>
                </a:solidFill>
                <a:latin typeface="Inter"/>
              </a:rPr>
              <a:t>srpskom</a:t>
            </a:r>
            <a:r>
              <a:rPr sz="1500" b="0" dirty="0">
                <a:solidFill>
                  <a:srgbClr val="3F3F46"/>
                </a:solidFill>
                <a:latin typeface="Inter"/>
              </a:rPr>
              <a:t>, </a:t>
            </a:r>
            <a:r>
              <a:rPr sz="1500" b="0" dirty="0" err="1">
                <a:solidFill>
                  <a:srgbClr val="3F3F46"/>
                </a:solidFill>
                <a:latin typeface="Inter"/>
              </a:rPr>
              <a:t>potpuno</a:t>
            </a:r>
            <a:r>
              <a:rPr sz="1500" b="0" dirty="0">
                <a:solidFill>
                  <a:srgbClr val="3F3F46"/>
                </a:solidFill>
                <a:latin typeface="Inter"/>
              </a:rPr>
              <a:t> </a:t>
            </a:r>
            <a:r>
              <a:rPr sz="1500" b="0" dirty="0" err="1">
                <a:solidFill>
                  <a:srgbClr val="3F3F46"/>
                </a:solidFill>
                <a:latin typeface="Inter"/>
              </a:rPr>
              <a:t>prirodno</a:t>
            </a:r>
            <a:r>
              <a:rPr sz="1500" b="0" dirty="0">
                <a:solidFill>
                  <a:srgbClr val="3F3F46"/>
                </a:solidFill>
                <a:latin typeface="Inter"/>
              </a:rPr>
              <a:t>, </a:t>
            </a:r>
            <a:r>
              <a:rPr sz="1500" b="0" dirty="0" err="1">
                <a:solidFill>
                  <a:srgbClr val="3F3F46"/>
                </a:solidFill>
                <a:latin typeface="Inter"/>
              </a:rPr>
              <a:t>kao</a:t>
            </a:r>
            <a:r>
              <a:rPr sz="1500" b="0" dirty="0">
                <a:solidFill>
                  <a:srgbClr val="3F3F46"/>
                </a:solidFill>
                <a:latin typeface="Inter"/>
              </a:rPr>
              <a:t> </a:t>
            </a:r>
            <a:r>
              <a:rPr sz="1500" b="0" dirty="0" err="1">
                <a:solidFill>
                  <a:srgbClr val="3F3F46"/>
                </a:solidFill>
                <a:latin typeface="Inter"/>
              </a:rPr>
              <a:t>što</a:t>
            </a:r>
            <a:r>
              <a:rPr sz="1500" b="0" dirty="0">
                <a:solidFill>
                  <a:srgbClr val="3F3F46"/>
                </a:solidFill>
                <a:latin typeface="Inter"/>
              </a:rPr>
              <a:t> </a:t>
            </a:r>
            <a:r>
              <a:rPr sz="1500" b="0" dirty="0" err="1">
                <a:solidFill>
                  <a:srgbClr val="3F3F46"/>
                </a:solidFill>
                <a:latin typeface="Inter"/>
              </a:rPr>
              <a:t>biste</a:t>
            </a:r>
            <a:r>
              <a:rPr sz="1500" b="0" dirty="0">
                <a:solidFill>
                  <a:srgbClr val="3F3F46"/>
                </a:solidFill>
                <a:latin typeface="Inter"/>
              </a:rPr>
              <a:t> </a:t>
            </a:r>
            <a:r>
              <a:rPr sz="1500" b="0" dirty="0" err="1">
                <a:solidFill>
                  <a:srgbClr val="3F3F46"/>
                </a:solidFill>
                <a:latin typeface="Inter"/>
              </a:rPr>
              <a:t>diktirali</a:t>
            </a:r>
            <a:r>
              <a:rPr sz="1500" b="0" dirty="0">
                <a:solidFill>
                  <a:srgbClr val="3F3F46"/>
                </a:solidFill>
                <a:latin typeface="Inter"/>
              </a:rPr>
              <a:t> </a:t>
            </a:r>
            <a:r>
              <a:rPr sz="1500" b="0" dirty="0" err="1">
                <a:solidFill>
                  <a:srgbClr val="3F3F46"/>
                </a:solidFill>
                <a:latin typeface="Inter"/>
              </a:rPr>
              <a:t>sestri</a:t>
            </a:r>
            <a:r>
              <a:rPr sz="1500" b="0" dirty="0">
                <a:solidFill>
                  <a:srgbClr val="3F3F46"/>
                </a:solidFill>
                <a:latin typeface="Inter"/>
              </a:rPr>
              <a:t> </a:t>
            </a:r>
            <a:r>
              <a:rPr sz="1500" b="0" dirty="0" err="1">
                <a:solidFill>
                  <a:srgbClr val="3F3F46"/>
                </a:solidFill>
                <a:latin typeface="Inter"/>
              </a:rPr>
              <a:t>ili</a:t>
            </a:r>
            <a:r>
              <a:rPr sz="1500" b="0" dirty="0">
                <a:solidFill>
                  <a:srgbClr val="3F3F46"/>
                </a:solidFill>
                <a:latin typeface="Inter"/>
              </a:rPr>
              <a:t> </a:t>
            </a:r>
            <a:r>
              <a:rPr sz="1500" b="0" dirty="0" err="1">
                <a:solidFill>
                  <a:srgbClr val="3F3F46"/>
                </a:solidFill>
                <a:latin typeface="Inter"/>
              </a:rPr>
              <a:t>kolegi</a:t>
            </a:r>
            <a:r>
              <a:rPr sz="1500" b="0" dirty="0">
                <a:solidFill>
                  <a:srgbClr val="3F3F46"/>
                </a:solidFill>
                <a:latin typeface="Inter"/>
              </a:rPr>
              <a:t>.</a:t>
            </a:r>
            <a:endParaRPr lang="hr-HR" sz="1500" b="0" dirty="0">
              <a:solidFill>
                <a:srgbClr val="3F3F46"/>
              </a:solidFill>
              <a:latin typeface="Inter"/>
            </a:endParaRPr>
          </a:p>
          <a:p>
            <a:pPr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</a:pPr>
            <a:endParaRPr sz="1500" b="0" dirty="0">
              <a:solidFill>
                <a:srgbClr val="3F3F46"/>
              </a:solidFill>
              <a:latin typeface="Inter"/>
            </a:endParaRPr>
          </a:p>
          <a:p>
            <a:pPr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dirty="0" err="1">
                <a:solidFill>
                  <a:srgbClr val="3F3F46"/>
                </a:solidFill>
                <a:latin typeface="Inter"/>
              </a:rPr>
              <a:t>AiMED</a:t>
            </a:r>
            <a:r>
              <a:rPr sz="1500" b="0" dirty="0">
                <a:solidFill>
                  <a:srgbClr val="3F3F46"/>
                </a:solidFill>
                <a:latin typeface="Inter"/>
              </a:rPr>
              <a:t> </a:t>
            </a:r>
            <a:r>
              <a:rPr sz="1500" b="0" dirty="0" err="1">
                <a:solidFill>
                  <a:srgbClr val="3F3F46"/>
                </a:solidFill>
                <a:latin typeface="Inter"/>
              </a:rPr>
              <a:t>sluša</a:t>
            </a:r>
            <a:r>
              <a:rPr sz="1500" b="0" dirty="0">
                <a:solidFill>
                  <a:srgbClr val="3F3F46"/>
                </a:solidFill>
                <a:latin typeface="Inter"/>
              </a:rPr>
              <a:t>, </a:t>
            </a:r>
            <a:r>
              <a:rPr sz="1500" b="0" dirty="0" err="1">
                <a:solidFill>
                  <a:srgbClr val="3F3F46"/>
                </a:solidFill>
                <a:latin typeface="Inter"/>
              </a:rPr>
              <a:t>prepoznaje</a:t>
            </a:r>
            <a:r>
              <a:rPr sz="1500" b="0" dirty="0">
                <a:solidFill>
                  <a:srgbClr val="3F3F46"/>
                </a:solidFill>
                <a:latin typeface="Inter"/>
              </a:rPr>
              <a:t> </a:t>
            </a:r>
            <a:r>
              <a:rPr sz="1500" b="0" dirty="0" err="1">
                <a:solidFill>
                  <a:srgbClr val="3F3F46"/>
                </a:solidFill>
                <a:latin typeface="Inter"/>
              </a:rPr>
              <a:t>medicinske</a:t>
            </a:r>
            <a:r>
              <a:rPr sz="1500" b="0" dirty="0">
                <a:solidFill>
                  <a:srgbClr val="3F3F46"/>
                </a:solidFill>
                <a:latin typeface="Inter"/>
              </a:rPr>
              <a:t> </a:t>
            </a:r>
            <a:r>
              <a:rPr sz="1500" b="0" dirty="0" err="1">
                <a:solidFill>
                  <a:srgbClr val="3F3F46"/>
                </a:solidFill>
                <a:latin typeface="Inter"/>
              </a:rPr>
              <a:t>pojmove</a:t>
            </a:r>
            <a:r>
              <a:rPr sz="1500" b="0" dirty="0">
                <a:solidFill>
                  <a:srgbClr val="3F3F46"/>
                </a:solidFill>
                <a:latin typeface="Inter"/>
              </a:rPr>
              <a:t> </a:t>
            </a:r>
            <a:r>
              <a:rPr sz="1500" b="0" dirty="0" err="1">
                <a:solidFill>
                  <a:srgbClr val="3F3F46"/>
                </a:solidFill>
                <a:latin typeface="Inter"/>
              </a:rPr>
              <a:t>i</a:t>
            </a:r>
            <a:r>
              <a:rPr sz="1500" b="0" dirty="0">
                <a:solidFill>
                  <a:srgbClr val="3F3F46"/>
                </a:solidFill>
                <a:latin typeface="Inter"/>
              </a:rPr>
              <a:t> za </a:t>
            </a:r>
            <a:r>
              <a:rPr sz="1500" b="0" dirty="0" err="1">
                <a:solidFill>
                  <a:srgbClr val="3F3F46"/>
                </a:solidFill>
                <a:latin typeface="Inter"/>
              </a:rPr>
              <a:t>manje</a:t>
            </a:r>
            <a:r>
              <a:rPr sz="1500" b="0" dirty="0">
                <a:solidFill>
                  <a:srgbClr val="3F3F46"/>
                </a:solidFill>
                <a:latin typeface="Inter"/>
              </a:rPr>
              <a:t> od </a:t>
            </a:r>
            <a:r>
              <a:rPr sz="1500" b="0" dirty="0" err="1">
                <a:solidFill>
                  <a:srgbClr val="3F3F46"/>
                </a:solidFill>
                <a:latin typeface="Inter"/>
              </a:rPr>
              <a:t>jedne</a:t>
            </a:r>
            <a:r>
              <a:rPr sz="1500" b="0" dirty="0">
                <a:solidFill>
                  <a:srgbClr val="3F3F46"/>
                </a:solidFill>
                <a:latin typeface="Inter"/>
              </a:rPr>
              <a:t> minute </a:t>
            </a:r>
            <a:r>
              <a:rPr sz="1500" b="0" dirty="0" err="1">
                <a:solidFill>
                  <a:srgbClr val="3F3F46"/>
                </a:solidFill>
                <a:latin typeface="Inter"/>
              </a:rPr>
              <a:t>složi</a:t>
            </a:r>
            <a:r>
              <a:rPr sz="1500" b="0" dirty="0">
                <a:solidFill>
                  <a:srgbClr val="3F3F46"/>
                </a:solidFill>
                <a:latin typeface="Inter"/>
              </a:rPr>
              <a:t> </a:t>
            </a:r>
            <a:r>
              <a:rPr sz="1500" b="0" dirty="0" err="1">
                <a:solidFill>
                  <a:srgbClr val="3F3F46"/>
                </a:solidFill>
                <a:latin typeface="Inter"/>
              </a:rPr>
              <a:t>kompletan</a:t>
            </a:r>
            <a:r>
              <a:rPr sz="1500" b="0" dirty="0">
                <a:solidFill>
                  <a:srgbClr val="3F3F46"/>
                </a:solidFill>
                <a:latin typeface="Inter"/>
              </a:rPr>
              <a:t> </a:t>
            </a:r>
            <a:r>
              <a:rPr sz="1500" b="0" dirty="0" err="1">
                <a:solidFill>
                  <a:srgbClr val="3F3F46"/>
                </a:solidFill>
                <a:latin typeface="Inter"/>
              </a:rPr>
              <a:t>nalaz</a:t>
            </a:r>
            <a:r>
              <a:rPr sz="1500" b="0" dirty="0">
                <a:solidFill>
                  <a:srgbClr val="3F3F46"/>
                </a:solidFill>
                <a:latin typeface="Inter"/>
              </a:rPr>
              <a:t> </a:t>
            </a:r>
            <a:r>
              <a:rPr sz="1500" b="0" dirty="0" err="1">
                <a:solidFill>
                  <a:srgbClr val="3F3F46"/>
                </a:solidFill>
                <a:latin typeface="Inter"/>
              </a:rPr>
              <a:t>spreman</a:t>
            </a:r>
            <a:r>
              <a:rPr sz="1500" b="0" dirty="0">
                <a:solidFill>
                  <a:srgbClr val="3F3F46"/>
                </a:solidFill>
                <a:latin typeface="Inter"/>
              </a:rPr>
              <a:t> za </a:t>
            </a:r>
            <a:r>
              <a:rPr sz="1500" b="0" dirty="0" err="1">
                <a:solidFill>
                  <a:srgbClr val="3F3F46"/>
                </a:solidFill>
                <a:latin typeface="Inter"/>
              </a:rPr>
              <a:t>potpis</a:t>
            </a:r>
            <a:r>
              <a:rPr sz="1500" b="0" dirty="0">
                <a:solidFill>
                  <a:srgbClr val="3F3F46"/>
                </a:solidFill>
                <a:latin typeface="Inter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4374889"/>
            <a:ext cx="1973043" cy="2300229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43800" y="4534065"/>
            <a:ext cx="1713432" cy="182101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50" dirty="0">
                <a:solidFill>
                  <a:srgbClr val="0D1B2A"/>
                </a:solidFill>
                <a:latin typeface="Inter"/>
              </a:rPr>
              <a:t>🎙  BHS JEZIK</a:t>
            </a:r>
            <a:endParaRPr lang="hr-HR" sz="1100" b="1" spc="150" dirty="0">
              <a:solidFill>
                <a:srgbClr val="0D1B2A"/>
              </a:solidFill>
              <a:latin typeface="Inter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BA" sz="1100" b="1" spc="150" dirty="0">
              <a:solidFill>
                <a:srgbClr val="0D1B2A"/>
              </a:solidFill>
              <a:latin typeface="Inter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0" dirty="0">
                <a:solidFill>
                  <a:srgbClr val="52525B"/>
                </a:solidFill>
                <a:latin typeface="Inter"/>
              </a:rPr>
              <a:t>AI </a:t>
            </a:r>
            <a:r>
              <a:rPr lang="en-US" sz="1200" b="0" dirty="0" err="1">
                <a:solidFill>
                  <a:srgbClr val="52525B"/>
                </a:solidFill>
                <a:latin typeface="Inter"/>
              </a:rPr>
              <a:t>podešen</a:t>
            </a:r>
            <a:r>
              <a:rPr lang="en-US" sz="1200" b="0" dirty="0">
                <a:solidFill>
                  <a:srgbClr val="52525B"/>
                </a:solidFill>
                <a:latin typeface="Inter"/>
              </a:rPr>
              <a:t> </a:t>
            </a:r>
            <a:r>
              <a:rPr lang="en-US" sz="1200" b="0" dirty="0" err="1">
                <a:solidFill>
                  <a:srgbClr val="52525B"/>
                </a:solidFill>
                <a:latin typeface="Inter"/>
              </a:rPr>
              <a:t>na</a:t>
            </a:r>
            <a:r>
              <a:rPr lang="en-US" sz="1200" b="0" dirty="0">
                <a:solidFill>
                  <a:srgbClr val="52525B"/>
                </a:solidFill>
                <a:latin typeface="Inter"/>
              </a:rPr>
              <a:t> </a:t>
            </a:r>
            <a:r>
              <a:rPr lang="en-US" sz="1200" b="0" dirty="0" err="1">
                <a:solidFill>
                  <a:srgbClr val="52525B"/>
                </a:solidFill>
                <a:latin typeface="Inter"/>
              </a:rPr>
              <a:t>lokalni</a:t>
            </a:r>
            <a:r>
              <a:rPr lang="en-US" sz="1200" b="0" dirty="0">
                <a:solidFill>
                  <a:srgbClr val="52525B"/>
                </a:solidFill>
                <a:latin typeface="Inter"/>
              </a:rPr>
              <a:t> </a:t>
            </a:r>
            <a:r>
              <a:rPr lang="en-US" sz="1200" b="0" dirty="0" err="1">
                <a:solidFill>
                  <a:srgbClr val="52525B"/>
                </a:solidFill>
                <a:latin typeface="Inter"/>
              </a:rPr>
              <a:t>medicinski</a:t>
            </a:r>
            <a:r>
              <a:rPr lang="en-US" sz="1200" b="0" dirty="0">
                <a:solidFill>
                  <a:srgbClr val="52525B"/>
                </a:solidFill>
                <a:latin typeface="Inter"/>
              </a:rPr>
              <a:t> </a:t>
            </a:r>
            <a:r>
              <a:rPr lang="en-US" sz="1200" b="0" dirty="0" err="1">
                <a:solidFill>
                  <a:srgbClr val="52525B"/>
                </a:solidFill>
                <a:latin typeface="Inter"/>
              </a:rPr>
              <a:t>rječnik</a:t>
            </a:r>
            <a:r>
              <a:rPr lang="en-US" sz="1200" b="0" dirty="0">
                <a:solidFill>
                  <a:srgbClr val="52525B"/>
                </a:solidFill>
                <a:latin typeface="Inter"/>
              </a:rPr>
              <a:t>.</a:t>
            </a:r>
            <a:endParaRPr sz="1200" b="0" dirty="0">
              <a:solidFill>
                <a:srgbClr val="52525B"/>
              </a:solidFill>
              <a:latin typeface="Inter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9462498" y="4374890"/>
            <a:ext cx="2150381" cy="2300230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516843" y="4512049"/>
            <a:ext cx="1867436" cy="1821015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50" dirty="0">
                <a:solidFill>
                  <a:srgbClr val="0D1B2A"/>
                </a:solidFill>
                <a:latin typeface="Inter"/>
              </a:rPr>
              <a:t>🔒  PRIVATNOST </a:t>
            </a:r>
            <a:endParaRPr lang="hr-HR" sz="1100" b="1" spc="150" dirty="0">
              <a:solidFill>
                <a:srgbClr val="0D1B2A"/>
              </a:solidFill>
              <a:latin typeface="Inter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hr-HR" sz="1200" b="0" dirty="0">
              <a:solidFill>
                <a:srgbClr val="52525B"/>
              </a:solidFill>
              <a:latin typeface="Inter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dirty="0" err="1">
                <a:solidFill>
                  <a:srgbClr val="52525B"/>
                </a:solidFill>
                <a:latin typeface="Inter"/>
              </a:rPr>
              <a:t>Glasovni</a:t>
            </a:r>
            <a:r>
              <a:rPr sz="1200" b="0" dirty="0">
                <a:solidFill>
                  <a:srgbClr val="52525B"/>
                </a:solidFill>
                <a:latin typeface="Inter"/>
              </a:rPr>
              <a:t> </a:t>
            </a:r>
            <a:r>
              <a:rPr sz="1200" b="0" dirty="0" err="1">
                <a:solidFill>
                  <a:srgbClr val="52525B"/>
                </a:solidFill>
                <a:latin typeface="Inter"/>
              </a:rPr>
              <a:t>zapisi</a:t>
            </a:r>
            <a:r>
              <a:rPr sz="1200" b="0" dirty="0">
                <a:solidFill>
                  <a:srgbClr val="52525B"/>
                </a:solidFill>
                <a:latin typeface="Inter"/>
              </a:rPr>
              <a:t> </a:t>
            </a:r>
            <a:r>
              <a:rPr sz="1200" b="0" dirty="0" err="1">
                <a:solidFill>
                  <a:srgbClr val="52525B"/>
                </a:solidFill>
                <a:latin typeface="Inter"/>
              </a:rPr>
              <a:t>brišu</a:t>
            </a:r>
            <a:r>
              <a:rPr sz="1200" b="0" dirty="0">
                <a:solidFill>
                  <a:srgbClr val="52525B"/>
                </a:solidFill>
                <a:latin typeface="Inter"/>
              </a:rPr>
              <a:t> se </a:t>
            </a:r>
            <a:r>
              <a:rPr sz="1200" b="0" dirty="0" err="1">
                <a:solidFill>
                  <a:srgbClr val="52525B"/>
                </a:solidFill>
                <a:latin typeface="Inter"/>
              </a:rPr>
              <a:t>odmah</a:t>
            </a:r>
            <a:r>
              <a:rPr sz="1200" b="0" dirty="0">
                <a:solidFill>
                  <a:srgbClr val="52525B"/>
                </a:solidFill>
                <a:latin typeface="Inter"/>
              </a:rPr>
              <a:t> po </a:t>
            </a:r>
            <a:r>
              <a:rPr sz="1200" b="0" dirty="0" err="1">
                <a:solidFill>
                  <a:srgbClr val="52525B"/>
                </a:solidFill>
                <a:latin typeface="Inter"/>
              </a:rPr>
              <a:t>obradi</a:t>
            </a:r>
            <a:r>
              <a:rPr sz="1200" b="0" dirty="0">
                <a:solidFill>
                  <a:srgbClr val="52525B"/>
                </a:solidFill>
                <a:latin typeface="Inter"/>
              </a:rPr>
              <a:t>. </a:t>
            </a:r>
            <a:r>
              <a:rPr sz="1200" b="0" dirty="0" err="1">
                <a:solidFill>
                  <a:srgbClr val="52525B"/>
                </a:solidFill>
                <a:latin typeface="Inter"/>
              </a:rPr>
              <a:t>Nema</a:t>
            </a:r>
            <a:r>
              <a:rPr sz="1200" b="0" dirty="0">
                <a:solidFill>
                  <a:srgbClr val="52525B"/>
                </a:solidFill>
                <a:latin typeface="Inter"/>
              </a:rPr>
              <a:t> </a:t>
            </a:r>
            <a:r>
              <a:rPr sz="1200" b="0" dirty="0" err="1">
                <a:solidFill>
                  <a:srgbClr val="52525B"/>
                </a:solidFill>
                <a:latin typeface="Inter"/>
              </a:rPr>
              <a:t>pohrane</a:t>
            </a:r>
            <a:r>
              <a:rPr sz="1200" b="0" dirty="0">
                <a:solidFill>
                  <a:srgbClr val="52525B"/>
                </a:solidFill>
                <a:latin typeface="Inter"/>
              </a:rPr>
              <a:t> audio </a:t>
            </a:r>
            <a:r>
              <a:rPr sz="1200" b="0" dirty="0" err="1">
                <a:solidFill>
                  <a:srgbClr val="52525B"/>
                </a:solidFill>
                <a:latin typeface="Inter"/>
              </a:rPr>
              <a:t>snimaka</a:t>
            </a:r>
            <a:r>
              <a:rPr sz="1200" b="0" dirty="0">
                <a:solidFill>
                  <a:srgbClr val="52525B"/>
                </a:solidFill>
                <a:latin typeface="Inter"/>
              </a:rPr>
              <a:t>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1188720"/>
            <a:ext cx="4297680" cy="822960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89520" y="1280160"/>
            <a:ext cx="374904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0D1B2A"/>
                </a:solidFill>
                <a:latin typeface="Inter"/>
              </a:rPr>
              <a:t>🎙 </a:t>
            </a:r>
            <a:r>
              <a:rPr sz="1600" b="1" dirty="0" err="1">
                <a:solidFill>
                  <a:srgbClr val="0D1B2A"/>
                </a:solidFill>
                <a:latin typeface="Inter"/>
              </a:rPr>
              <a:t>Glas</a:t>
            </a:r>
            <a:r>
              <a:rPr sz="1600" b="1" dirty="0">
                <a:solidFill>
                  <a:srgbClr val="0D1B2A"/>
                </a:solidFill>
                <a:latin typeface="Inter"/>
              </a:rPr>
              <a:t> </a:t>
            </a:r>
            <a:r>
              <a:rPr lang="hr-HR" sz="1600" b="1" dirty="0">
                <a:solidFill>
                  <a:srgbClr val="0D1B2A"/>
                </a:solidFill>
                <a:latin typeface="Inter"/>
              </a:rPr>
              <a:t>doktora</a:t>
            </a:r>
            <a:endParaRPr sz="1600" b="1" dirty="0">
              <a:solidFill>
                <a:srgbClr val="0D1B2A"/>
              </a:solidFill>
              <a:latin typeface="Inter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315200" y="2029968"/>
            <a:ext cx="429768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D4D4D8"/>
                </a:solidFill>
                <a:latin typeface="Inter"/>
              </a:rPr>
              <a:t>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2363364"/>
            <a:ext cx="4297680" cy="822960"/>
          </a:xfrm>
          <a:prstGeom prst="roundRect">
            <a:avLst>
              <a:gd name="adj" fmla="val 5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589520" y="2454804"/>
            <a:ext cx="374904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AiMED 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3113018"/>
            <a:ext cx="429768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dirty="0">
                <a:solidFill>
                  <a:srgbClr val="D4D4D8"/>
                </a:solidFill>
                <a:latin typeface="Inter"/>
              </a:rPr>
              <a:t>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0" y="3401568"/>
            <a:ext cx="4297680" cy="822960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589520" y="3493008"/>
            <a:ext cx="374904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0D1B2A"/>
                </a:solidFill>
                <a:latin typeface="Inter"/>
              </a:rPr>
              <a:t>📄 </a:t>
            </a:r>
            <a:r>
              <a:rPr sz="1600" b="1" dirty="0" err="1">
                <a:solidFill>
                  <a:srgbClr val="0D1B2A"/>
                </a:solidFill>
                <a:latin typeface="Inter"/>
              </a:rPr>
              <a:t>Potpun</a:t>
            </a:r>
            <a:r>
              <a:rPr sz="1600" b="1" dirty="0">
                <a:solidFill>
                  <a:srgbClr val="0D1B2A"/>
                </a:solidFill>
                <a:latin typeface="Inter"/>
              </a:rPr>
              <a:t> </a:t>
            </a:r>
            <a:r>
              <a:rPr sz="1600" b="1" dirty="0" err="1">
                <a:solidFill>
                  <a:srgbClr val="0D1B2A"/>
                </a:solidFill>
                <a:latin typeface="Inter"/>
              </a:rPr>
              <a:t>nalaz</a:t>
            </a:r>
            <a:endParaRPr sz="1600" b="1" dirty="0">
              <a:solidFill>
                <a:srgbClr val="0D1B2A"/>
              </a:solidFill>
              <a:latin typeface="Inter"/>
            </a:endParaRP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52525B"/>
                </a:solidFill>
                <a:latin typeface="Inter"/>
              </a:rPr>
              <a:t>PDF + Word + Copy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548640"/>
            <a:ext cx="265176" cy="265176"/>
          </a:xfrm>
          <a:prstGeom prst="roundRect">
            <a:avLst>
              <a:gd name="adj" fmla="val 5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57784" y="539496"/>
            <a:ext cx="265176" cy="26517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Inter"/>
              </a:rPr>
              <a:t>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" y="539496"/>
            <a:ext cx="10972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D1B2A"/>
                </a:solidFill>
                <a:latin typeface="Inter"/>
              </a:rPr>
              <a:t>AiMED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39" y="1080924"/>
            <a:ext cx="7315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80" dirty="0">
                <a:solidFill>
                  <a:srgbClr val="71717A"/>
                </a:solidFill>
                <a:latin typeface="Inter"/>
              </a:rPr>
              <a:t>KAKO IZGLEDAJU PRVI KORACI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4721" y="1227248"/>
            <a:ext cx="6735738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dirty="0" err="1">
                <a:solidFill>
                  <a:srgbClr val="0D1B2A"/>
                </a:solidFill>
                <a:latin typeface="Inter"/>
              </a:rPr>
              <a:t>Spremni</a:t>
            </a:r>
            <a:r>
              <a:rPr sz="4400" b="1" dirty="0">
                <a:solidFill>
                  <a:srgbClr val="0D1B2A"/>
                </a:solidFill>
                <a:latin typeface="Inter"/>
              </a:rPr>
              <a:t> za rad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dirty="0">
                <a:solidFill>
                  <a:schemeClr val="bg1">
                    <a:lumMod val="65000"/>
                  </a:schemeClr>
                </a:solidFill>
                <a:latin typeface="Inter"/>
              </a:rPr>
              <a:t>za </a:t>
            </a:r>
            <a:r>
              <a:rPr lang="hr-HR" sz="4400" b="1" dirty="0">
                <a:solidFill>
                  <a:schemeClr val="bg1">
                    <a:lumMod val="65000"/>
                  </a:schemeClr>
                </a:solidFill>
                <a:latin typeface="Inter"/>
              </a:rPr>
              <a:t>samo par </a:t>
            </a:r>
            <a:r>
              <a:rPr sz="4400" b="1" dirty="0" err="1">
                <a:solidFill>
                  <a:schemeClr val="bg1">
                    <a:lumMod val="65000"/>
                  </a:schemeClr>
                </a:solidFill>
                <a:latin typeface="Inter"/>
              </a:rPr>
              <a:t>minuta</a:t>
            </a:r>
            <a:endParaRPr sz="4400" b="1" dirty="0">
              <a:solidFill>
                <a:schemeClr val="bg1">
                  <a:lumMod val="65000"/>
                </a:schemeClr>
              </a:solidFill>
              <a:latin typeface="Inter"/>
            </a:endParaRPr>
          </a:p>
        </p:txBody>
      </p:sp>
      <p:sp>
        <p:nvSpPr>
          <p:cNvPr id="7" name="Oval 6"/>
          <p:cNvSpPr/>
          <p:nvPr/>
        </p:nvSpPr>
        <p:spPr>
          <a:xfrm>
            <a:off x="548640" y="2743200"/>
            <a:ext cx="320040" cy="32004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39496" y="2767858"/>
            <a:ext cx="338328" cy="33832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dirty="0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59" y="2697480"/>
            <a:ext cx="6017403" cy="6766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 err="1">
                <a:solidFill>
                  <a:srgbClr val="0D1B2A"/>
                </a:solidFill>
                <a:latin typeface="Inter"/>
              </a:rPr>
              <a:t>Registracija</a:t>
            </a:r>
            <a:endParaRPr sz="1400" b="1" dirty="0">
              <a:solidFill>
                <a:srgbClr val="0D1B2A"/>
              </a:solidFill>
              <a:latin typeface="Inter"/>
            </a:endParaRP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hr-HR" sz="1200" dirty="0" err="1">
                <a:solidFill>
                  <a:srgbClr val="52525B"/>
                </a:solidFill>
                <a:latin typeface="Inter"/>
              </a:rPr>
              <a:t>Registrujte</a:t>
            </a:r>
            <a:r>
              <a:rPr lang="hr-HR" sz="1200" dirty="0">
                <a:solidFill>
                  <a:srgbClr val="52525B"/>
                </a:solidFill>
                <a:latin typeface="Inter"/>
              </a:rPr>
              <a:t> se n</a:t>
            </a:r>
            <a:r>
              <a:rPr sz="1200" b="0" dirty="0">
                <a:solidFill>
                  <a:srgbClr val="52525B"/>
                </a:solidFill>
                <a:latin typeface="Inter"/>
              </a:rPr>
              <a:t>a </a:t>
            </a:r>
            <a:r>
              <a:rPr lang="hr-HR" sz="1200" b="0" dirty="0" err="1">
                <a:solidFill>
                  <a:srgbClr val="52525B"/>
                </a:solidFill>
                <a:latin typeface="Inter"/>
              </a:rPr>
              <a:t>aimed</a:t>
            </a:r>
            <a:r>
              <a:rPr sz="1200" b="0" dirty="0">
                <a:solidFill>
                  <a:srgbClr val="52525B"/>
                </a:solidFill>
                <a:latin typeface="Inter"/>
              </a:rPr>
              <a:t>.</a:t>
            </a:r>
            <a:r>
              <a:rPr sz="1200" b="0" dirty="0" err="1">
                <a:solidFill>
                  <a:srgbClr val="52525B"/>
                </a:solidFill>
                <a:latin typeface="Inter"/>
              </a:rPr>
              <a:t>ba</a:t>
            </a:r>
            <a:r>
              <a:rPr sz="1200" b="0" dirty="0">
                <a:solidFill>
                  <a:srgbClr val="52525B"/>
                </a:solidFill>
                <a:latin typeface="Inter"/>
              </a:rPr>
              <a:t> </a:t>
            </a:r>
            <a:r>
              <a:rPr sz="1200" b="0" dirty="0" err="1">
                <a:solidFill>
                  <a:srgbClr val="52525B"/>
                </a:solidFill>
                <a:latin typeface="Inter"/>
              </a:rPr>
              <a:t>kao</a:t>
            </a:r>
            <a:r>
              <a:rPr sz="1200" b="0" dirty="0">
                <a:solidFill>
                  <a:srgbClr val="52525B"/>
                </a:solidFill>
                <a:latin typeface="Inter"/>
              </a:rPr>
              <a:t> </a:t>
            </a:r>
            <a:r>
              <a:rPr sz="1200" b="0" dirty="0" err="1">
                <a:solidFill>
                  <a:srgbClr val="52525B"/>
                </a:solidFill>
                <a:latin typeface="Inter"/>
              </a:rPr>
              <a:t>što</a:t>
            </a:r>
            <a:r>
              <a:rPr sz="1200" b="0" dirty="0">
                <a:solidFill>
                  <a:srgbClr val="52525B"/>
                </a:solidFill>
                <a:latin typeface="Inter"/>
              </a:rPr>
              <a:t> </a:t>
            </a:r>
            <a:r>
              <a:rPr sz="1200" b="0" dirty="0" err="1">
                <a:solidFill>
                  <a:srgbClr val="52525B"/>
                </a:solidFill>
                <a:latin typeface="Inter"/>
              </a:rPr>
              <a:t>biste</a:t>
            </a:r>
            <a:r>
              <a:rPr sz="1200" b="0" dirty="0">
                <a:solidFill>
                  <a:srgbClr val="52525B"/>
                </a:solidFill>
                <a:latin typeface="Inter"/>
              </a:rPr>
              <a:t> </a:t>
            </a:r>
            <a:r>
              <a:rPr sz="1200" b="0" dirty="0" err="1">
                <a:solidFill>
                  <a:srgbClr val="52525B"/>
                </a:solidFill>
                <a:latin typeface="Inter"/>
              </a:rPr>
              <a:t>napravili</a:t>
            </a:r>
            <a:r>
              <a:rPr sz="1200" b="0" dirty="0">
                <a:solidFill>
                  <a:srgbClr val="52525B"/>
                </a:solidFill>
                <a:latin typeface="Inter"/>
              </a:rPr>
              <a:t> email </a:t>
            </a:r>
            <a:r>
              <a:rPr sz="1200" b="0" dirty="0" err="1">
                <a:solidFill>
                  <a:srgbClr val="52525B"/>
                </a:solidFill>
                <a:latin typeface="Inter"/>
              </a:rPr>
              <a:t>nalog</a:t>
            </a:r>
            <a:r>
              <a:rPr sz="1200" b="0" dirty="0">
                <a:solidFill>
                  <a:srgbClr val="52525B"/>
                </a:solidFill>
                <a:latin typeface="Inter"/>
              </a:rPr>
              <a:t>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493008"/>
            <a:ext cx="320040" cy="3200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9496" y="3528197"/>
            <a:ext cx="338328" cy="33832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dirty="0">
                <a:solidFill>
                  <a:srgbClr val="000000"/>
                </a:solidFill>
                <a:latin typeface="Inter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" y="3383279"/>
            <a:ext cx="5687566" cy="922691"/>
          </a:xfrm>
          <a:prstGeom prst="roundRect">
            <a:avLst>
              <a:gd name="adj" fmla="val 5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51559" y="3447288"/>
            <a:ext cx="5687567" cy="6766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 err="1">
                <a:solidFill>
                  <a:srgbClr val="FFFFFF"/>
                </a:solidFill>
                <a:latin typeface="Inter"/>
              </a:rPr>
              <a:t>Podaci</a:t>
            </a:r>
            <a:r>
              <a:rPr sz="1400" b="1" dirty="0">
                <a:solidFill>
                  <a:srgbClr val="FFFFFF"/>
                </a:solidFill>
                <a:latin typeface="Inter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Inter"/>
              </a:rPr>
              <a:t>ordinacije</a:t>
            </a:r>
            <a:r>
              <a:rPr lang="hr-HR" sz="1400" b="1" dirty="0">
                <a:solidFill>
                  <a:srgbClr val="FFFFFF"/>
                </a:solidFill>
                <a:latin typeface="Inter"/>
              </a:rPr>
              <a:t> i nalaza</a:t>
            </a:r>
            <a:endParaRPr sz="1400" b="1" dirty="0">
              <a:solidFill>
                <a:srgbClr val="FFFFFF"/>
              </a:solidFill>
              <a:latin typeface="Inter"/>
            </a:endParaRP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dirty="0" err="1">
                <a:solidFill>
                  <a:srgbClr val="A1A1AA"/>
                </a:solidFill>
                <a:latin typeface="Inter"/>
              </a:rPr>
              <a:t>Unesete</a:t>
            </a:r>
            <a:r>
              <a:rPr sz="1200" b="0" dirty="0">
                <a:solidFill>
                  <a:srgbClr val="A1A1AA"/>
                </a:solidFill>
                <a:latin typeface="Inter"/>
              </a:rPr>
              <a:t> </a:t>
            </a:r>
            <a:r>
              <a:rPr sz="1200" b="0" dirty="0" err="1">
                <a:solidFill>
                  <a:srgbClr val="A1A1AA"/>
                </a:solidFill>
                <a:latin typeface="Inter"/>
              </a:rPr>
              <a:t>naziv</a:t>
            </a:r>
            <a:r>
              <a:rPr sz="1200" b="0" dirty="0">
                <a:solidFill>
                  <a:srgbClr val="A1A1AA"/>
                </a:solidFill>
                <a:latin typeface="Inter"/>
              </a:rPr>
              <a:t> </a:t>
            </a:r>
            <a:r>
              <a:rPr sz="1200" b="0" dirty="0" err="1">
                <a:solidFill>
                  <a:srgbClr val="A1A1AA"/>
                </a:solidFill>
                <a:latin typeface="Inter"/>
              </a:rPr>
              <a:t>vaše</a:t>
            </a:r>
            <a:r>
              <a:rPr sz="1200" b="0" dirty="0">
                <a:solidFill>
                  <a:srgbClr val="A1A1AA"/>
                </a:solidFill>
                <a:latin typeface="Inter"/>
              </a:rPr>
              <a:t> </a:t>
            </a:r>
            <a:r>
              <a:rPr sz="1200" b="0" dirty="0" err="1">
                <a:solidFill>
                  <a:srgbClr val="A1A1AA"/>
                </a:solidFill>
                <a:latin typeface="Inter"/>
              </a:rPr>
              <a:t>ordinacije</a:t>
            </a:r>
            <a:r>
              <a:rPr sz="1200" b="0" dirty="0">
                <a:solidFill>
                  <a:srgbClr val="A1A1AA"/>
                </a:solidFill>
                <a:latin typeface="Inter"/>
              </a:rPr>
              <a:t>, </a:t>
            </a:r>
            <a:r>
              <a:rPr sz="1200" b="0" dirty="0" err="1">
                <a:solidFill>
                  <a:srgbClr val="A1A1AA"/>
                </a:solidFill>
                <a:latin typeface="Inter"/>
              </a:rPr>
              <a:t>adresu</a:t>
            </a:r>
            <a:r>
              <a:rPr sz="1200" b="0" dirty="0">
                <a:solidFill>
                  <a:srgbClr val="A1A1AA"/>
                </a:solidFill>
                <a:latin typeface="Inter"/>
              </a:rPr>
              <a:t> </a:t>
            </a:r>
            <a:r>
              <a:rPr sz="1200" b="0" dirty="0" err="1">
                <a:solidFill>
                  <a:srgbClr val="A1A1AA"/>
                </a:solidFill>
                <a:latin typeface="Inter"/>
              </a:rPr>
              <a:t>i</a:t>
            </a:r>
            <a:r>
              <a:rPr sz="1200" b="0" dirty="0">
                <a:solidFill>
                  <a:srgbClr val="A1A1AA"/>
                </a:solidFill>
                <a:latin typeface="Inter"/>
              </a:rPr>
              <a:t> </a:t>
            </a:r>
            <a:r>
              <a:rPr lang="hr-HR" sz="1200" b="0" dirty="0" err="1">
                <a:solidFill>
                  <a:srgbClr val="A1A1AA"/>
                </a:solidFill>
                <a:latin typeface="Inter"/>
              </a:rPr>
              <a:t>website</a:t>
            </a:r>
            <a:r>
              <a:rPr lang="hr-HR" sz="1200" b="0" dirty="0">
                <a:solidFill>
                  <a:srgbClr val="A1A1AA"/>
                </a:solidFill>
                <a:latin typeface="Inter"/>
              </a:rPr>
              <a:t>, te sekcije Vašeg nalaza (ukoliko nije kao tipičnih 5: Anamneza, Status, Dijagnoza, Terapija, Kontrola)</a:t>
            </a:r>
            <a:r>
              <a:rPr sz="1200" b="0" dirty="0">
                <a:solidFill>
                  <a:srgbClr val="A1A1AA"/>
                </a:solidFill>
                <a:latin typeface="Inter"/>
              </a:rPr>
              <a:t>.</a:t>
            </a:r>
          </a:p>
        </p:txBody>
      </p:sp>
      <p:sp>
        <p:nvSpPr>
          <p:cNvPr id="14" name="Oval 13"/>
          <p:cNvSpPr/>
          <p:nvPr/>
        </p:nvSpPr>
        <p:spPr>
          <a:xfrm>
            <a:off x="548639" y="4390662"/>
            <a:ext cx="320040" cy="32004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9495" y="4413368"/>
            <a:ext cx="338328" cy="33832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dirty="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59" y="4344942"/>
            <a:ext cx="5687568" cy="6766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D1B2A"/>
                </a:solidFill>
                <a:latin typeface="Inter"/>
              </a:rPr>
              <a:t>Branding </a:t>
            </a:r>
            <a:r>
              <a:rPr sz="1400" b="1" dirty="0" err="1">
                <a:solidFill>
                  <a:srgbClr val="0D1B2A"/>
                </a:solidFill>
                <a:latin typeface="Inter"/>
              </a:rPr>
              <a:t>nalaza</a:t>
            </a:r>
            <a:endParaRPr sz="1400" b="1" dirty="0">
              <a:solidFill>
                <a:srgbClr val="0D1B2A"/>
              </a:solidFill>
              <a:latin typeface="Inter"/>
            </a:endParaRP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dirty="0" err="1">
                <a:solidFill>
                  <a:srgbClr val="52525B"/>
                </a:solidFill>
                <a:latin typeface="Inter"/>
              </a:rPr>
              <a:t>Dodajete</a:t>
            </a:r>
            <a:r>
              <a:rPr sz="1200" b="0" dirty="0">
                <a:solidFill>
                  <a:srgbClr val="52525B"/>
                </a:solidFill>
                <a:latin typeface="Inter"/>
              </a:rPr>
              <a:t> </a:t>
            </a:r>
            <a:r>
              <a:rPr lang="hr-HR" sz="1200" b="0" dirty="0">
                <a:solidFill>
                  <a:srgbClr val="52525B"/>
                </a:solidFill>
                <a:latin typeface="Inter"/>
              </a:rPr>
              <a:t>vaš </a:t>
            </a:r>
            <a:r>
              <a:rPr sz="1200" b="0" dirty="0">
                <a:solidFill>
                  <a:srgbClr val="52525B"/>
                </a:solidFill>
                <a:latin typeface="Inter"/>
              </a:rPr>
              <a:t>logo</a:t>
            </a:r>
            <a:r>
              <a:rPr lang="hr-HR" sz="1200" b="0" dirty="0">
                <a:solidFill>
                  <a:srgbClr val="52525B"/>
                </a:solidFill>
                <a:latin typeface="Inter"/>
              </a:rPr>
              <a:t>, potpis i pečat i </a:t>
            </a:r>
            <a:r>
              <a:rPr sz="1200" b="0" dirty="0" err="1">
                <a:solidFill>
                  <a:srgbClr val="52525B"/>
                </a:solidFill>
                <a:latin typeface="Inter"/>
              </a:rPr>
              <a:t>svaki</a:t>
            </a:r>
            <a:r>
              <a:rPr sz="1200" b="0" dirty="0">
                <a:solidFill>
                  <a:srgbClr val="52525B"/>
                </a:solidFill>
                <a:latin typeface="Inter"/>
              </a:rPr>
              <a:t> </a:t>
            </a:r>
            <a:r>
              <a:rPr lang="hr-HR" sz="1200" b="0" dirty="0">
                <a:solidFill>
                  <a:srgbClr val="52525B"/>
                </a:solidFill>
                <a:latin typeface="Inter"/>
              </a:rPr>
              <a:t>nalaz</a:t>
            </a:r>
            <a:r>
              <a:rPr sz="1200" b="0" dirty="0">
                <a:solidFill>
                  <a:srgbClr val="52525B"/>
                </a:solidFill>
                <a:latin typeface="Inter"/>
              </a:rPr>
              <a:t> </a:t>
            </a:r>
            <a:r>
              <a:rPr sz="1200" b="0" dirty="0" err="1">
                <a:solidFill>
                  <a:srgbClr val="52525B"/>
                </a:solidFill>
                <a:latin typeface="Inter"/>
              </a:rPr>
              <a:t>iz</a:t>
            </a:r>
            <a:r>
              <a:rPr sz="1200" b="0" dirty="0">
                <a:solidFill>
                  <a:srgbClr val="52525B"/>
                </a:solidFill>
                <a:latin typeface="Inter"/>
              </a:rPr>
              <a:t> </a:t>
            </a:r>
            <a:r>
              <a:rPr sz="1200" b="0" dirty="0" err="1">
                <a:solidFill>
                  <a:srgbClr val="52525B"/>
                </a:solidFill>
                <a:latin typeface="Inter"/>
              </a:rPr>
              <a:t>AiMED</a:t>
            </a:r>
            <a:r>
              <a:rPr sz="1200" b="0" dirty="0">
                <a:solidFill>
                  <a:srgbClr val="52525B"/>
                </a:solidFill>
                <a:latin typeface="Inter"/>
              </a:rPr>
              <a:t>-a </a:t>
            </a:r>
            <a:r>
              <a:rPr sz="1200" b="0" dirty="0" err="1">
                <a:solidFill>
                  <a:srgbClr val="52525B"/>
                </a:solidFill>
                <a:latin typeface="Inter"/>
              </a:rPr>
              <a:t>nosi</a:t>
            </a:r>
            <a:r>
              <a:rPr sz="1200" b="0" dirty="0">
                <a:solidFill>
                  <a:srgbClr val="52525B"/>
                </a:solidFill>
                <a:latin typeface="Inter"/>
              </a:rPr>
              <a:t> </a:t>
            </a:r>
            <a:r>
              <a:rPr sz="1200" b="0" dirty="0" err="1">
                <a:solidFill>
                  <a:srgbClr val="52525B"/>
                </a:solidFill>
                <a:latin typeface="Inter"/>
              </a:rPr>
              <a:t>vaš</a:t>
            </a:r>
            <a:r>
              <a:rPr sz="1200" b="0" dirty="0">
                <a:solidFill>
                  <a:srgbClr val="52525B"/>
                </a:solidFill>
                <a:latin typeface="Inter"/>
              </a:rPr>
              <a:t> branding.</a:t>
            </a:r>
          </a:p>
        </p:txBody>
      </p:sp>
      <p:sp>
        <p:nvSpPr>
          <p:cNvPr id="17" name="Oval 16"/>
          <p:cNvSpPr/>
          <p:nvPr/>
        </p:nvSpPr>
        <p:spPr>
          <a:xfrm>
            <a:off x="548639" y="5037153"/>
            <a:ext cx="320040" cy="32004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39495" y="5067435"/>
            <a:ext cx="338328" cy="33832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dirty="0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59" y="4996235"/>
            <a:ext cx="5504688" cy="6766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 err="1">
                <a:solidFill>
                  <a:srgbClr val="0D1B2A"/>
                </a:solidFill>
                <a:latin typeface="Inter"/>
              </a:rPr>
              <a:t>Pacijentska</a:t>
            </a:r>
            <a:r>
              <a:rPr sz="1400" b="1" dirty="0">
                <a:solidFill>
                  <a:srgbClr val="0D1B2A"/>
                </a:solidFill>
                <a:latin typeface="Inter"/>
              </a:rPr>
              <a:t> </a:t>
            </a:r>
            <a:r>
              <a:rPr sz="1400" b="1" dirty="0" err="1">
                <a:solidFill>
                  <a:srgbClr val="0D1B2A"/>
                </a:solidFill>
                <a:latin typeface="Inter"/>
              </a:rPr>
              <a:t>baza</a:t>
            </a:r>
            <a:endParaRPr sz="1400" b="1" dirty="0">
              <a:solidFill>
                <a:srgbClr val="0D1B2A"/>
              </a:solidFill>
              <a:latin typeface="Inter"/>
            </a:endParaRP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dirty="0" err="1">
                <a:solidFill>
                  <a:srgbClr val="52525B"/>
                </a:solidFill>
                <a:latin typeface="Inter"/>
              </a:rPr>
              <a:t>Unesete</a:t>
            </a:r>
            <a:r>
              <a:rPr sz="1200" b="0" dirty="0">
                <a:solidFill>
                  <a:srgbClr val="52525B"/>
                </a:solidFill>
                <a:latin typeface="Inter"/>
              </a:rPr>
              <a:t> </a:t>
            </a:r>
            <a:r>
              <a:rPr sz="1200" b="0" dirty="0" err="1">
                <a:solidFill>
                  <a:srgbClr val="52525B"/>
                </a:solidFill>
                <a:latin typeface="Inter"/>
              </a:rPr>
              <a:t>pacijenta</a:t>
            </a:r>
            <a:r>
              <a:rPr sz="1200" b="0" dirty="0">
                <a:solidFill>
                  <a:srgbClr val="52525B"/>
                </a:solidFill>
                <a:latin typeface="Inter"/>
              </a:rPr>
              <a:t> </a:t>
            </a:r>
            <a:r>
              <a:rPr sz="1200" b="0" dirty="0" err="1">
                <a:solidFill>
                  <a:srgbClr val="52525B"/>
                </a:solidFill>
                <a:latin typeface="Inter"/>
              </a:rPr>
              <a:t>jednom</a:t>
            </a:r>
            <a:r>
              <a:rPr sz="1200" b="0" dirty="0">
                <a:solidFill>
                  <a:srgbClr val="52525B"/>
                </a:solidFill>
                <a:latin typeface="Inter"/>
              </a:rPr>
              <a:t>. </a:t>
            </a:r>
            <a:r>
              <a:rPr sz="1200" b="0" dirty="0" err="1">
                <a:solidFill>
                  <a:srgbClr val="52525B"/>
                </a:solidFill>
                <a:latin typeface="Inter"/>
              </a:rPr>
              <a:t>Svaki</a:t>
            </a:r>
            <a:r>
              <a:rPr sz="1200" b="0" dirty="0">
                <a:solidFill>
                  <a:srgbClr val="52525B"/>
                </a:solidFill>
                <a:latin typeface="Inter"/>
              </a:rPr>
              <a:t> </a:t>
            </a:r>
            <a:r>
              <a:rPr sz="1200" b="0" dirty="0" err="1">
                <a:solidFill>
                  <a:srgbClr val="52525B"/>
                </a:solidFill>
                <a:latin typeface="Inter"/>
              </a:rPr>
              <a:t>sljedeći</a:t>
            </a:r>
            <a:r>
              <a:rPr sz="1200" b="0" dirty="0">
                <a:solidFill>
                  <a:srgbClr val="52525B"/>
                </a:solidFill>
                <a:latin typeface="Inter"/>
              </a:rPr>
              <a:t> </a:t>
            </a:r>
            <a:r>
              <a:rPr sz="1200" b="0" dirty="0" err="1">
                <a:solidFill>
                  <a:srgbClr val="52525B"/>
                </a:solidFill>
                <a:latin typeface="Inter"/>
              </a:rPr>
              <a:t>nalaz</a:t>
            </a:r>
            <a:r>
              <a:rPr sz="1200" b="0" dirty="0">
                <a:solidFill>
                  <a:srgbClr val="52525B"/>
                </a:solidFill>
                <a:latin typeface="Inter"/>
              </a:rPr>
              <a:t> za </a:t>
            </a:r>
            <a:r>
              <a:rPr sz="1200" b="0" dirty="0" err="1">
                <a:solidFill>
                  <a:srgbClr val="52525B"/>
                </a:solidFill>
                <a:latin typeface="Inter"/>
              </a:rPr>
              <a:t>tu</a:t>
            </a:r>
            <a:r>
              <a:rPr sz="1200" b="0" dirty="0">
                <a:solidFill>
                  <a:srgbClr val="52525B"/>
                </a:solidFill>
                <a:latin typeface="Inter"/>
              </a:rPr>
              <a:t> </a:t>
            </a:r>
            <a:r>
              <a:rPr sz="1200" b="0" dirty="0" err="1">
                <a:solidFill>
                  <a:srgbClr val="52525B"/>
                </a:solidFill>
                <a:latin typeface="Inter"/>
              </a:rPr>
              <a:t>osobu</a:t>
            </a:r>
            <a:r>
              <a:rPr sz="1200" b="0" dirty="0">
                <a:solidFill>
                  <a:srgbClr val="52525B"/>
                </a:solidFill>
                <a:latin typeface="Inter"/>
              </a:rPr>
              <a:t> </a:t>
            </a:r>
            <a:r>
              <a:rPr sz="1200" b="0" dirty="0" err="1">
                <a:solidFill>
                  <a:srgbClr val="52525B"/>
                </a:solidFill>
                <a:latin typeface="Inter"/>
              </a:rPr>
              <a:t>vezuje</a:t>
            </a:r>
            <a:r>
              <a:rPr sz="1200" b="0" dirty="0">
                <a:solidFill>
                  <a:srgbClr val="52525B"/>
                </a:solidFill>
                <a:latin typeface="Inter"/>
              </a:rPr>
              <a:t> se </a:t>
            </a:r>
            <a:r>
              <a:rPr sz="1200" b="0" dirty="0" err="1">
                <a:solidFill>
                  <a:srgbClr val="52525B"/>
                </a:solidFill>
                <a:latin typeface="Inter"/>
              </a:rPr>
              <a:t>automatski</a:t>
            </a:r>
            <a:r>
              <a:rPr sz="1200" b="0" dirty="0">
                <a:solidFill>
                  <a:srgbClr val="52525B"/>
                </a:solidFill>
                <a:latin typeface="Inter"/>
              </a:rPr>
              <a:t> </a:t>
            </a:r>
            <a:r>
              <a:rPr sz="1200" b="0" dirty="0" err="1">
                <a:solidFill>
                  <a:srgbClr val="52525B"/>
                </a:solidFill>
                <a:latin typeface="Inter"/>
              </a:rPr>
              <a:t>uz</a:t>
            </a:r>
            <a:r>
              <a:rPr sz="1200" b="0" dirty="0">
                <a:solidFill>
                  <a:srgbClr val="52525B"/>
                </a:solidFill>
                <a:latin typeface="Inter"/>
              </a:rPr>
              <a:t> </a:t>
            </a:r>
            <a:r>
              <a:rPr sz="1200" b="0" dirty="0" err="1">
                <a:solidFill>
                  <a:srgbClr val="52525B"/>
                </a:solidFill>
                <a:latin typeface="Inter"/>
              </a:rPr>
              <a:t>njen</a:t>
            </a:r>
            <a:r>
              <a:rPr sz="1200" b="0" dirty="0">
                <a:solidFill>
                  <a:srgbClr val="52525B"/>
                </a:solidFill>
                <a:latin typeface="Inter"/>
              </a:rPr>
              <a:t> </a:t>
            </a:r>
            <a:r>
              <a:rPr sz="1200" b="0" dirty="0" err="1">
                <a:solidFill>
                  <a:srgbClr val="52525B"/>
                </a:solidFill>
                <a:latin typeface="Inter"/>
              </a:rPr>
              <a:t>karton</a:t>
            </a:r>
            <a:r>
              <a:rPr sz="1200" b="0" dirty="0">
                <a:solidFill>
                  <a:srgbClr val="52525B"/>
                </a:solidFill>
                <a:latin typeface="Inter"/>
              </a:rPr>
              <a:t>.</a:t>
            </a:r>
          </a:p>
        </p:txBody>
      </p:sp>
      <p:sp>
        <p:nvSpPr>
          <p:cNvPr id="20" name="Oval 19"/>
          <p:cNvSpPr/>
          <p:nvPr/>
        </p:nvSpPr>
        <p:spPr>
          <a:xfrm>
            <a:off x="548639" y="5947280"/>
            <a:ext cx="320040" cy="32004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39" y="5983428"/>
            <a:ext cx="338328" cy="33832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dirty="0">
                <a:solidFill>
                  <a:srgbClr val="FFFFFF"/>
                </a:solidFill>
                <a:latin typeface="Inter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59" y="5893940"/>
            <a:ext cx="5514340" cy="6766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 err="1">
                <a:solidFill>
                  <a:srgbClr val="0D1B2A"/>
                </a:solidFill>
                <a:latin typeface="Inter"/>
              </a:rPr>
              <a:t>Odaberite</a:t>
            </a:r>
            <a:r>
              <a:rPr sz="1400" b="1" dirty="0">
                <a:solidFill>
                  <a:srgbClr val="0D1B2A"/>
                </a:solidFill>
                <a:latin typeface="Inter"/>
              </a:rPr>
              <a:t> mod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dirty="0" err="1">
                <a:solidFill>
                  <a:srgbClr val="52525B"/>
                </a:solidFill>
                <a:latin typeface="Inter"/>
              </a:rPr>
              <a:t>Pritisnete</a:t>
            </a:r>
            <a:r>
              <a:rPr sz="1200" b="0" dirty="0">
                <a:solidFill>
                  <a:srgbClr val="52525B"/>
                </a:solidFill>
                <a:latin typeface="Inter"/>
              </a:rPr>
              <a:t> '</a:t>
            </a:r>
            <a:r>
              <a:rPr sz="1200" b="0" dirty="0" err="1">
                <a:solidFill>
                  <a:srgbClr val="52525B"/>
                </a:solidFill>
                <a:latin typeface="Inter"/>
              </a:rPr>
              <a:t>Snimi</a:t>
            </a:r>
            <a:r>
              <a:rPr sz="1200" b="0" dirty="0">
                <a:solidFill>
                  <a:srgbClr val="52525B"/>
                </a:solidFill>
                <a:latin typeface="Inter"/>
              </a:rPr>
              <a:t>' </a:t>
            </a:r>
            <a:r>
              <a:rPr sz="1200" b="0" dirty="0" err="1">
                <a:solidFill>
                  <a:srgbClr val="52525B"/>
                </a:solidFill>
                <a:latin typeface="Inter"/>
              </a:rPr>
              <a:t>i</a:t>
            </a:r>
            <a:r>
              <a:rPr sz="1200" b="0" dirty="0">
                <a:solidFill>
                  <a:srgbClr val="52525B"/>
                </a:solidFill>
                <a:latin typeface="Inter"/>
              </a:rPr>
              <a:t> </a:t>
            </a:r>
            <a:r>
              <a:rPr sz="1200" b="0" dirty="0" err="1">
                <a:solidFill>
                  <a:srgbClr val="52525B"/>
                </a:solidFill>
                <a:latin typeface="Inter"/>
              </a:rPr>
              <a:t>počnete</a:t>
            </a:r>
            <a:r>
              <a:rPr sz="1200" b="0" dirty="0">
                <a:solidFill>
                  <a:srgbClr val="52525B"/>
                </a:solidFill>
                <a:latin typeface="Inter"/>
              </a:rPr>
              <a:t> </a:t>
            </a:r>
            <a:r>
              <a:rPr sz="1200" b="0" dirty="0" err="1">
                <a:solidFill>
                  <a:srgbClr val="52525B"/>
                </a:solidFill>
                <a:latin typeface="Inter"/>
              </a:rPr>
              <a:t>diktirati</a:t>
            </a:r>
            <a:r>
              <a:rPr sz="1200" b="0" dirty="0">
                <a:solidFill>
                  <a:srgbClr val="52525B"/>
                </a:solidFill>
                <a:latin typeface="Inter"/>
              </a:rPr>
              <a:t>. </a:t>
            </a:r>
            <a:r>
              <a:rPr sz="1200" b="0" dirty="0" err="1">
                <a:solidFill>
                  <a:srgbClr val="52525B"/>
                </a:solidFill>
                <a:latin typeface="Inter"/>
              </a:rPr>
              <a:t>Odaberete</a:t>
            </a:r>
            <a:r>
              <a:rPr sz="1200" b="0" dirty="0">
                <a:solidFill>
                  <a:srgbClr val="52525B"/>
                </a:solidFill>
                <a:latin typeface="Inter"/>
              </a:rPr>
              <a:t> format </a:t>
            </a:r>
            <a:r>
              <a:rPr sz="1200" b="0" dirty="0" err="1">
                <a:solidFill>
                  <a:srgbClr val="52525B"/>
                </a:solidFill>
                <a:latin typeface="Inter"/>
              </a:rPr>
              <a:t>i</a:t>
            </a:r>
            <a:r>
              <a:rPr sz="1200" b="0" dirty="0">
                <a:solidFill>
                  <a:srgbClr val="52525B"/>
                </a:solidFill>
                <a:latin typeface="Inter"/>
              </a:rPr>
              <a:t> </a:t>
            </a:r>
            <a:r>
              <a:rPr sz="1200" b="0" dirty="0" err="1">
                <a:solidFill>
                  <a:srgbClr val="52525B"/>
                </a:solidFill>
                <a:latin typeface="Inter"/>
              </a:rPr>
              <a:t>kliknete</a:t>
            </a:r>
            <a:r>
              <a:rPr sz="1200" b="0" dirty="0">
                <a:solidFill>
                  <a:srgbClr val="52525B"/>
                </a:solidFill>
                <a:latin typeface="Inter"/>
              </a:rPr>
              <a:t> Export.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39128" y="1120294"/>
            <a:ext cx="4873752" cy="125714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977834" y="1325880"/>
            <a:ext cx="4360725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80" dirty="0">
                <a:solidFill>
                  <a:srgbClr val="A1A1AA"/>
                </a:solidFill>
                <a:latin typeface="Inter"/>
              </a:rPr>
              <a:t>LISTA PACIJENATA</a:t>
            </a:r>
          </a:p>
          <a:p>
            <a:pPr algn="l">
              <a:lnSpc>
                <a:spcPct val="160000"/>
              </a:lnSpc>
              <a:spcBef>
                <a:spcPts val="600"/>
              </a:spcBef>
              <a:spcAft>
                <a:spcPts val="0"/>
              </a:spcAft>
            </a:pPr>
            <a:r>
              <a:rPr sz="1300" b="0" dirty="0">
                <a:solidFill>
                  <a:srgbClr val="0D1B2A"/>
                </a:solidFill>
                <a:latin typeface="Inter"/>
              </a:rPr>
              <a:t>Zdravko </a:t>
            </a:r>
            <a:r>
              <a:rPr sz="1300" b="0" dirty="0" err="1">
                <a:solidFill>
                  <a:srgbClr val="0D1B2A"/>
                </a:solidFill>
                <a:latin typeface="Inter"/>
              </a:rPr>
              <a:t>Čorić</a:t>
            </a:r>
            <a:r>
              <a:rPr sz="1300" b="0" dirty="0">
                <a:solidFill>
                  <a:srgbClr val="0D1B2A"/>
                </a:solidFill>
                <a:latin typeface="Inter"/>
              </a:rPr>
              <a:t>  |  ID: 29402  |  3 </a:t>
            </a:r>
            <a:r>
              <a:rPr sz="1300" b="0" dirty="0" err="1">
                <a:solidFill>
                  <a:srgbClr val="0D1B2A"/>
                </a:solidFill>
                <a:latin typeface="Inter"/>
              </a:rPr>
              <a:t>nalaza</a:t>
            </a:r>
            <a:endParaRPr sz="1300" b="0" dirty="0">
              <a:solidFill>
                <a:srgbClr val="0D1B2A"/>
              </a:solidFill>
              <a:latin typeface="Inter"/>
            </a:endParaRPr>
          </a:p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hr-HR" sz="1300" b="0" dirty="0">
                <a:solidFill>
                  <a:srgbClr val="0D1B2A"/>
                </a:solidFill>
                <a:latin typeface="Inter"/>
              </a:rPr>
              <a:t>Emina</a:t>
            </a:r>
            <a:r>
              <a:rPr sz="1300" b="0" dirty="0">
                <a:solidFill>
                  <a:srgbClr val="0D1B2A"/>
                </a:solidFill>
                <a:latin typeface="Inter"/>
              </a:rPr>
              <a:t> </a:t>
            </a:r>
            <a:r>
              <a:rPr lang="hr-HR" sz="1300" dirty="0">
                <a:solidFill>
                  <a:srgbClr val="0D1B2A"/>
                </a:solidFill>
                <a:latin typeface="Inter"/>
              </a:rPr>
              <a:t>Kovač</a:t>
            </a:r>
            <a:r>
              <a:rPr sz="1300" b="0" dirty="0">
                <a:solidFill>
                  <a:srgbClr val="0D1B2A"/>
                </a:solidFill>
                <a:latin typeface="Inter"/>
              </a:rPr>
              <a:t>     |  ID: 18764  |  1 </a:t>
            </a:r>
            <a:r>
              <a:rPr sz="1300" b="0" dirty="0" err="1">
                <a:solidFill>
                  <a:srgbClr val="0D1B2A"/>
                </a:solidFill>
                <a:latin typeface="Inter"/>
              </a:rPr>
              <a:t>nalaz</a:t>
            </a:r>
            <a:endParaRPr sz="1300" b="0" dirty="0">
              <a:solidFill>
                <a:srgbClr val="0D1B2A"/>
              </a:solidFill>
              <a:latin typeface="Inter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739128" y="2514600"/>
            <a:ext cx="4873752" cy="1097280"/>
          </a:xfrm>
          <a:prstGeom prst="roundRect">
            <a:avLst>
              <a:gd name="adj" fmla="val 5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977834" y="2697480"/>
            <a:ext cx="4360725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FFFFFF"/>
                </a:solidFill>
                <a:latin typeface="Inter"/>
              </a:rPr>
              <a:t>🔴  00:42 · </a:t>
            </a:r>
            <a:r>
              <a:rPr sz="1800" b="1" dirty="0" err="1">
                <a:solidFill>
                  <a:srgbClr val="FFFFFF"/>
                </a:solidFill>
                <a:latin typeface="Inter"/>
              </a:rPr>
              <a:t>Diktiranje</a:t>
            </a:r>
            <a:r>
              <a:rPr sz="1800" b="1" dirty="0">
                <a:solidFill>
                  <a:srgbClr val="FFFFFF"/>
                </a:solidFill>
                <a:latin typeface="Inter"/>
              </a:rPr>
              <a:t> u </a:t>
            </a:r>
            <a:r>
              <a:rPr sz="1800" b="1" dirty="0" err="1">
                <a:solidFill>
                  <a:srgbClr val="FFFFFF"/>
                </a:solidFill>
                <a:latin typeface="Inter"/>
              </a:rPr>
              <a:t>toku</a:t>
            </a:r>
            <a:r>
              <a:rPr sz="1800" b="1" dirty="0">
                <a:solidFill>
                  <a:srgbClr val="FFFFFF"/>
                </a:solidFill>
                <a:latin typeface="Inter"/>
              </a:rPr>
              <a:t>...</a:t>
            </a:r>
          </a:p>
          <a:p>
            <a:pPr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sz="1600" b="0" dirty="0">
                <a:solidFill>
                  <a:srgbClr val="71717A"/>
                </a:solidFill>
                <a:latin typeface="Inter"/>
              </a:rPr>
              <a:t>▁▂▃▅▇▅▃▂▁▂▃▅▇▅▃▂▁▂▃▅▇▅▃▂▁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739128" y="3813048"/>
            <a:ext cx="4873752" cy="258775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977834" y="4123944"/>
            <a:ext cx="4360725" cy="21396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80" dirty="0">
                <a:solidFill>
                  <a:srgbClr val="A1A1AA"/>
                </a:solidFill>
                <a:latin typeface="Inter"/>
              </a:rPr>
              <a:t>STRUKTURIRANI NALAZ</a:t>
            </a:r>
          </a:p>
          <a:p>
            <a:pPr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</a:pPr>
            <a:r>
              <a:rPr sz="1200" b="0" dirty="0" err="1">
                <a:solidFill>
                  <a:srgbClr val="0D1B2A"/>
                </a:solidFill>
                <a:latin typeface="Inter"/>
              </a:rPr>
              <a:t>Anamneza</a:t>
            </a:r>
            <a:r>
              <a:rPr sz="1200" b="0" dirty="0">
                <a:solidFill>
                  <a:srgbClr val="0D1B2A"/>
                </a:solidFill>
                <a:latin typeface="Inter"/>
              </a:rPr>
              <a:t>: </a:t>
            </a:r>
            <a:r>
              <a:rPr sz="1200" b="0" dirty="0" err="1">
                <a:solidFill>
                  <a:srgbClr val="0D1B2A"/>
                </a:solidFill>
                <a:latin typeface="Inter"/>
              </a:rPr>
              <a:t>Pacijent</a:t>
            </a:r>
            <a:r>
              <a:rPr sz="1200" b="0" dirty="0">
                <a:solidFill>
                  <a:srgbClr val="0D1B2A"/>
                </a:solidFill>
                <a:latin typeface="Inter"/>
              </a:rPr>
              <a:t> se </a:t>
            </a:r>
            <a:r>
              <a:rPr sz="1200" b="0" dirty="0" err="1">
                <a:solidFill>
                  <a:srgbClr val="0D1B2A"/>
                </a:solidFill>
                <a:latin typeface="Inter"/>
              </a:rPr>
              <a:t>žali</a:t>
            </a:r>
            <a:r>
              <a:rPr sz="1200" b="0" dirty="0">
                <a:solidFill>
                  <a:srgbClr val="0D1B2A"/>
                </a:solidFill>
                <a:latin typeface="Inter"/>
              </a:rPr>
              <a:t> </a:t>
            </a:r>
            <a:r>
              <a:rPr sz="1200" b="0" dirty="0" err="1">
                <a:solidFill>
                  <a:srgbClr val="0D1B2A"/>
                </a:solidFill>
                <a:latin typeface="Inter"/>
              </a:rPr>
              <a:t>na</a:t>
            </a:r>
            <a:r>
              <a:rPr sz="1200" b="0" dirty="0">
                <a:solidFill>
                  <a:srgbClr val="0D1B2A"/>
                </a:solidFill>
                <a:latin typeface="Inter"/>
              </a:rPr>
              <a:t> </a:t>
            </a:r>
            <a:r>
              <a:rPr sz="1200" b="0" dirty="0" err="1">
                <a:solidFill>
                  <a:srgbClr val="0D1B2A"/>
                </a:solidFill>
                <a:latin typeface="Inter"/>
              </a:rPr>
              <a:t>bolove</a:t>
            </a:r>
            <a:r>
              <a:rPr sz="1200" b="0" dirty="0">
                <a:solidFill>
                  <a:srgbClr val="0D1B2A"/>
                </a:solidFill>
                <a:latin typeface="Inter"/>
              </a:rPr>
              <a:t> u </a:t>
            </a:r>
            <a:r>
              <a:rPr sz="1200" b="0" dirty="0" err="1">
                <a:solidFill>
                  <a:srgbClr val="0D1B2A"/>
                </a:solidFill>
                <a:latin typeface="Inter"/>
              </a:rPr>
              <a:t>abdomenu</a:t>
            </a:r>
            <a:r>
              <a:rPr sz="1200" b="0" dirty="0">
                <a:solidFill>
                  <a:srgbClr val="0D1B2A"/>
                </a:solidFill>
                <a:latin typeface="Inter"/>
              </a:rPr>
              <a:t>...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dirty="0" err="1">
                <a:solidFill>
                  <a:srgbClr val="0D1B2A"/>
                </a:solidFill>
                <a:latin typeface="Inter"/>
              </a:rPr>
              <a:t>Dijagnoza</a:t>
            </a:r>
            <a:r>
              <a:rPr sz="1200" b="0" dirty="0">
                <a:solidFill>
                  <a:srgbClr val="0D1B2A"/>
                </a:solidFill>
                <a:latin typeface="Inter"/>
              </a:rPr>
              <a:t>: K29.5</a:t>
            </a:r>
            <a:r>
              <a:rPr lang="hr-HR" sz="1200" dirty="0">
                <a:solidFill>
                  <a:srgbClr val="0D1B2A"/>
                </a:solidFill>
                <a:latin typeface="Inter"/>
              </a:rPr>
              <a:t> </a:t>
            </a:r>
            <a:r>
              <a:rPr sz="1200" b="0" dirty="0">
                <a:solidFill>
                  <a:srgbClr val="0D1B2A"/>
                </a:solidFill>
                <a:latin typeface="Inter"/>
              </a:rPr>
              <a:t>Gastritis, </a:t>
            </a:r>
            <a:r>
              <a:rPr sz="1200" b="0" dirty="0" err="1">
                <a:solidFill>
                  <a:srgbClr val="0D1B2A"/>
                </a:solidFill>
                <a:latin typeface="Inter"/>
              </a:rPr>
              <a:t>nespecificiran</a:t>
            </a:r>
            <a:endParaRPr sz="1200" b="0" dirty="0">
              <a:solidFill>
                <a:srgbClr val="0D1B2A"/>
              </a:solidFill>
              <a:latin typeface="Inter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dirty="0" err="1">
                <a:solidFill>
                  <a:srgbClr val="0D1B2A"/>
                </a:solidFill>
                <a:latin typeface="Inter"/>
              </a:rPr>
              <a:t>Terapija</a:t>
            </a:r>
            <a:r>
              <a:rPr sz="1200" b="0" dirty="0">
                <a:solidFill>
                  <a:srgbClr val="0D1B2A"/>
                </a:solidFill>
                <a:latin typeface="Inter"/>
              </a:rPr>
              <a:t>: </a:t>
            </a:r>
            <a:r>
              <a:rPr sz="1200" b="0" dirty="0" err="1">
                <a:solidFill>
                  <a:srgbClr val="0D1B2A"/>
                </a:solidFill>
                <a:latin typeface="Inter"/>
              </a:rPr>
              <a:t>Sumamed</a:t>
            </a:r>
            <a:r>
              <a:rPr sz="1200" b="0" dirty="0">
                <a:solidFill>
                  <a:srgbClr val="0D1B2A"/>
                </a:solidFill>
                <a:latin typeface="Inter"/>
              </a:rPr>
              <a:t> 500mg 1x1, 3 dana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977834" y="5978224"/>
            <a:ext cx="1005840" cy="292608"/>
          </a:xfrm>
          <a:prstGeom prst="roundRect">
            <a:avLst>
              <a:gd name="adj" fmla="val 5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041842" y="5996512"/>
            <a:ext cx="850391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dirty="0">
                <a:solidFill>
                  <a:srgbClr val="FFFFFF"/>
                </a:solidFill>
                <a:latin typeface="Inter"/>
              </a:rPr>
              <a:t>PDF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66554" y="5978224"/>
            <a:ext cx="1005840" cy="292608"/>
          </a:xfrm>
          <a:prstGeom prst="roundRect">
            <a:avLst>
              <a:gd name="adj" fmla="val 5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22380" y="5996512"/>
            <a:ext cx="902281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dirty="0">
                <a:solidFill>
                  <a:srgbClr val="FFFFFF"/>
                </a:solidFill>
                <a:latin typeface="Inter"/>
              </a:rPr>
              <a:t>Word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355274" y="5978224"/>
            <a:ext cx="1005840" cy="292608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12700">
            <a:solidFill>
              <a:srgbClr val="F4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411100" y="5996512"/>
            <a:ext cx="892505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dirty="0" err="1">
                <a:solidFill>
                  <a:srgbClr val="0D1B2A"/>
                </a:solidFill>
                <a:latin typeface="Inter"/>
              </a:rPr>
              <a:t>Kopiraj</a:t>
            </a:r>
            <a:endParaRPr sz="1100" b="1" dirty="0">
              <a:solidFill>
                <a:srgbClr val="0D1B2A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548640"/>
            <a:ext cx="265176" cy="265176"/>
          </a:xfrm>
          <a:prstGeom prst="roundRect">
            <a:avLst>
              <a:gd name="adj" fmla="val 5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57784" y="539496"/>
            <a:ext cx="265176" cy="26517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Inter"/>
              </a:rPr>
              <a:t>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" y="539496"/>
            <a:ext cx="10972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D1B2A"/>
                </a:solidFill>
                <a:latin typeface="Inter"/>
              </a:rPr>
              <a:t>AiMED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713232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dirty="0" err="1">
                <a:solidFill>
                  <a:srgbClr val="0D1B2A"/>
                </a:solidFill>
                <a:latin typeface="Inter"/>
              </a:rPr>
              <a:t>Dva</a:t>
            </a:r>
            <a:r>
              <a:rPr sz="4400" b="1" dirty="0">
                <a:solidFill>
                  <a:srgbClr val="0D1B2A"/>
                </a:solidFill>
                <a:latin typeface="Inter"/>
              </a:rPr>
              <a:t> </a:t>
            </a:r>
            <a:r>
              <a:rPr sz="4400" b="1" dirty="0" err="1">
                <a:solidFill>
                  <a:srgbClr val="0D1B2A"/>
                </a:solidFill>
                <a:latin typeface="Inter"/>
              </a:rPr>
              <a:t>načina</a:t>
            </a:r>
            <a:r>
              <a:rPr sz="4400" b="1" dirty="0">
                <a:solidFill>
                  <a:srgbClr val="0D1B2A"/>
                </a:solidFill>
                <a:latin typeface="Inter"/>
              </a:rPr>
              <a:t> </a:t>
            </a:r>
            <a:r>
              <a:rPr sz="4400" b="1" dirty="0" err="1">
                <a:solidFill>
                  <a:srgbClr val="0D1B2A"/>
                </a:solidFill>
                <a:latin typeface="Inter"/>
              </a:rPr>
              <a:t>rada</a:t>
            </a:r>
            <a:r>
              <a:rPr sz="4400" b="1" dirty="0">
                <a:solidFill>
                  <a:srgbClr val="0D1B2A"/>
                </a:solidFill>
                <a:latin typeface="Inter"/>
              </a:rPr>
              <a:t>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dirty="0" err="1">
                <a:solidFill>
                  <a:schemeClr val="bg1">
                    <a:lumMod val="65000"/>
                  </a:schemeClr>
                </a:solidFill>
                <a:latin typeface="Inter"/>
              </a:rPr>
              <a:t>Jedan</a:t>
            </a:r>
            <a:r>
              <a:rPr sz="4400" b="1" dirty="0">
                <a:solidFill>
                  <a:schemeClr val="bg1">
                    <a:lumMod val="65000"/>
                  </a:schemeClr>
                </a:solidFill>
                <a:latin typeface="Inter"/>
              </a:rPr>
              <a:t> </a:t>
            </a:r>
            <a:r>
              <a:rPr sz="4400" b="1" dirty="0" err="1">
                <a:solidFill>
                  <a:schemeClr val="bg1">
                    <a:lumMod val="65000"/>
                  </a:schemeClr>
                </a:solidFill>
                <a:latin typeface="Inter"/>
              </a:rPr>
              <a:t>cilj</a:t>
            </a:r>
            <a:r>
              <a:rPr sz="4400" b="1" dirty="0">
                <a:solidFill>
                  <a:schemeClr val="bg1">
                    <a:lumMod val="65000"/>
                  </a:schemeClr>
                </a:solidFill>
                <a:latin typeface="Inter"/>
              </a:rPr>
              <a:t>: </a:t>
            </a:r>
            <a:r>
              <a:rPr sz="4400" b="1" dirty="0" err="1">
                <a:solidFill>
                  <a:schemeClr val="bg1">
                    <a:lumMod val="65000"/>
                  </a:schemeClr>
                </a:solidFill>
                <a:latin typeface="Inter"/>
              </a:rPr>
              <a:t>vaše</a:t>
            </a:r>
            <a:r>
              <a:rPr sz="4400" b="1" dirty="0">
                <a:solidFill>
                  <a:schemeClr val="bg1">
                    <a:lumMod val="65000"/>
                  </a:schemeClr>
                </a:solidFill>
                <a:latin typeface="Inter"/>
              </a:rPr>
              <a:t> </a:t>
            </a:r>
            <a:r>
              <a:rPr sz="4400" b="1" dirty="0" err="1">
                <a:solidFill>
                  <a:schemeClr val="bg1">
                    <a:lumMod val="65000"/>
                  </a:schemeClr>
                </a:solidFill>
                <a:latin typeface="Inter"/>
              </a:rPr>
              <a:t>vrijeme</a:t>
            </a:r>
            <a:r>
              <a:rPr sz="4400" b="1" dirty="0">
                <a:solidFill>
                  <a:schemeClr val="bg1">
                    <a:lumMod val="65000"/>
                  </a:schemeClr>
                </a:solidFill>
                <a:latin typeface="Inter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51760"/>
            <a:ext cx="7132320" cy="1828800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22960" y="2834640"/>
            <a:ext cx="2286000" cy="256032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2563EB"/>
                </a:solidFill>
                <a:latin typeface="Inter"/>
              </a:rPr>
              <a:t>NAJČEŠĆE KORIŠTENO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00400"/>
            <a:ext cx="658368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dirty="0">
                <a:solidFill>
                  <a:srgbClr val="0D1B2A"/>
                </a:solidFill>
                <a:latin typeface="Inter"/>
              </a:rPr>
              <a:t>🎙  Novi </a:t>
            </a:r>
            <a:r>
              <a:rPr sz="2200" b="1" dirty="0" err="1">
                <a:solidFill>
                  <a:srgbClr val="0D1B2A"/>
                </a:solidFill>
                <a:latin typeface="Inter"/>
              </a:rPr>
              <a:t>snimak</a:t>
            </a:r>
            <a:endParaRPr sz="2200" b="1" dirty="0">
              <a:solidFill>
                <a:srgbClr val="0D1B2A"/>
              </a:solidFill>
              <a:latin typeface="Inter"/>
            </a:endParaRPr>
          </a:p>
          <a:p>
            <a:pPr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</a:pPr>
            <a:r>
              <a:rPr sz="1400" b="0" dirty="0" err="1">
                <a:solidFill>
                  <a:srgbClr val="52525B"/>
                </a:solidFill>
                <a:latin typeface="Inter"/>
              </a:rPr>
              <a:t>Kliknete</a:t>
            </a:r>
            <a:r>
              <a:rPr sz="1400" b="0" dirty="0">
                <a:solidFill>
                  <a:srgbClr val="52525B"/>
                </a:solidFill>
                <a:latin typeface="Inter"/>
              </a:rPr>
              <a:t> </a:t>
            </a:r>
            <a:r>
              <a:rPr lang="hr-HR" sz="1400" b="0" dirty="0">
                <a:solidFill>
                  <a:srgbClr val="52525B"/>
                </a:solidFill>
                <a:latin typeface="Inter"/>
              </a:rPr>
              <a:t>"</a:t>
            </a:r>
            <a:r>
              <a:rPr sz="1400" b="0" dirty="0" err="1">
                <a:solidFill>
                  <a:srgbClr val="52525B"/>
                </a:solidFill>
                <a:latin typeface="Inter"/>
              </a:rPr>
              <a:t>Snimi</a:t>
            </a:r>
            <a:r>
              <a:rPr lang="hr-HR" sz="1400" dirty="0">
                <a:solidFill>
                  <a:srgbClr val="52525B"/>
                </a:solidFill>
                <a:latin typeface="Inter"/>
              </a:rPr>
              <a:t>"</a:t>
            </a:r>
            <a:r>
              <a:rPr sz="1400" b="0" dirty="0">
                <a:solidFill>
                  <a:srgbClr val="52525B"/>
                </a:solidFill>
                <a:latin typeface="Inter"/>
              </a:rPr>
              <a:t> </a:t>
            </a:r>
            <a:r>
              <a:rPr sz="1400" b="0" dirty="0" err="1">
                <a:solidFill>
                  <a:srgbClr val="52525B"/>
                </a:solidFill>
                <a:latin typeface="Inter"/>
              </a:rPr>
              <a:t>i</a:t>
            </a:r>
            <a:r>
              <a:rPr sz="1400" b="0" dirty="0">
                <a:solidFill>
                  <a:srgbClr val="52525B"/>
                </a:solidFill>
                <a:latin typeface="Inter"/>
              </a:rPr>
              <a:t> </a:t>
            </a:r>
            <a:r>
              <a:rPr sz="1400" b="0" dirty="0" err="1">
                <a:solidFill>
                  <a:srgbClr val="52525B"/>
                </a:solidFill>
                <a:latin typeface="Inter"/>
              </a:rPr>
              <a:t>počnete</a:t>
            </a:r>
            <a:r>
              <a:rPr sz="1400" b="0" dirty="0">
                <a:solidFill>
                  <a:srgbClr val="52525B"/>
                </a:solidFill>
                <a:latin typeface="Inter"/>
              </a:rPr>
              <a:t> </a:t>
            </a:r>
            <a:r>
              <a:rPr sz="1400" b="0" dirty="0" err="1">
                <a:solidFill>
                  <a:srgbClr val="52525B"/>
                </a:solidFill>
                <a:latin typeface="Inter"/>
              </a:rPr>
              <a:t>govoriti</a:t>
            </a:r>
            <a:r>
              <a:rPr sz="1400" b="0" dirty="0">
                <a:solidFill>
                  <a:srgbClr val="52525B"/>
                </a:solidFill>
                <a:latin typeface="Inter"/>
              </a:rPr>
              <a:t>. Ne </a:t>
            </a:r>
            <a:r>
              <a:rPr sz="1400" b="0" dirty="0" err="1">
                <a:solidFill>
                  <a:srgbClr val="52525B"/>
                </a:solidFill>
                <a:latin typeface="Inter"/>
              </a:rPr>
              <a:t>morate</a:t>
            </a:r>
            <a:r>
              <a:rPr sz="1400" b="0" dirty="0">
                <a:solidFill>
                  <a:srgbClr val="52525B"/>
                </a:solidFill>
                <a:latin typeface="Inter"/>
              </a:rPr>
              <a:t> </a:t>
            </a:r>
            <a:r>
              <a:rPr sz="1400" b="0" dirty="0" err="1">
                <a:solidFill>
                  <a:srgbClr val="52525B"/>
                </a:solidFill>
                <a:latin typeface="Inter"/>
              </a:rPr>
              <a:t>ništa</a:t>
            </a:r>
            <a:r>
              <a:rPr sz="1400" b="0" dirty="0">
                <a:solidFill>
                  <a:srgbClr val="52525B"/>
                </a:solidFill>
                <a:latin typeface="Inter"/>
              </a:rPr>
              <a:t> </a:t>
            </a:r>
            <a:r>
              <a:rPr sz="1400" b="0" dirty="0" err="1">
                <a:solidFill>
                  <a:srgbClr val="52525B"/>
                </a:solidFill>
                <a:latin typeface="Inter"/>
              </a:rPr>
              <a:t>unaprijed</a:t>
            </a:r>
            <a:r>
              <a:rPr sz="1400" b="0" dirty="0">
                <a:solidFill>
                  <a:srgbClr val="52525B"/>
                </a:solidFill>
                <a:latin typeface="Inter"/>
              </a:rPr>
              <a:t> </a:t>
            </a:r>
            <a:r>
              <a:rPr sz="1400" b="0" dirty="0" err="1">
                <a:solidFill>
                  <a:srgbClr val="52525B"/>
                </a:solidFill>
                <a:latin typeface="Inter"/>
              </a:rPr>
              <a:t>planirati</a:t>
            </a:r>
            <a:r>
              <a:rPr lang="hr-HR" sz="1400" dirty="0">
                <a:solidFill>
                  <a:srgbClr val="52525B"/>
                </a:solidFill>
                <a:latin typeface="Inter"/>
              </a:rPr>
              <a:t> niti naglašavati. </a:t>
            </a:r>
            <a:r>
              <a:rPr lang="hr-HR" sz="1400" dirty="0" err="1">
                <a:solidFill>
                  <a:srgbClr val="52525B"/>
                </a:solidFill>
                <a:latin typeface="Inter"/>
              </a:rPr>
              <a:t>AiMED</a:t>
            </a:r>
            <a:r>
              <a:rPr lang="hr-HR" sz="1400" dirty="0">
                <a:solidFill>
                  <a:srgbClr val="52525B"/>
                </a:solidFill>
                <a:latin typeface="Inter"/>
              </a:rPr>
              <a:t> </a:t>
            </a:r>
            <a:r>
              <a:rPr sz="1400" b="0" dirty="0" err="1">
                <a:solidFill>
                  <a:srgbClr val="52525B"/>
                </a:solidFill>
                <a:latin typeface="Inter"/>
              </a:rPr>
              <a:t>strukturira</a:t>
            </a:r>
            <a:r>
              <a:rPr sz="1400" b="0" dirty="0">
                <a:solidFill>
                  <a:srgbClr val="52525B"/>
                </a:solidFill>
                <a:latin typeface="Inter"/>
              </a:rPr>
              <a:t> </a:t>
            </a:r>
            <a:r>
              <a:rPr sz="1400" b="0" dirty="0" err="1">
                <a:solidFill>
                  <a:srgbClr val="52525B"/>
                </a:solidFill>
                <a:latin typeface="Inter"/>
              </a:rPr>
              <a:t>sve</a:t>
            </a:r>
            <a:r>
              <a:rPr sz="1400" b="0" dirty="0">
                <a:solidFill>
                  <a:srgbClr val="52525B"/>
                </a:solidFill>
                <a:latin typeface="Inter"/>
              </a:rPr>
              <a:t> </a:t>
            </a:r>
            <a:r>
              <a:rPr sz="1400" b="0" dirty="0" err="1">
                <a:solidFill>
                  <a:srgbClr val="52525B"/>
                </a:solidFill>
                <a:latin typeface="Inter"/>
              </a:rPr>
              <a:t>iz</a:t>
            </a:r>
            <a:r>
              <a:rPr sz="1400" b="0" dirty="0">
                <a:solidFill>
                  <a:srgbClr val="52525B"/>
                </a:solidFill>
                <a:latin typeface="Inter"/>
              </a:rPr>
              <a:t> </a:t>
            </a:r>
            <a:r>
              <a:rPr sz="1400" b="0" dirty="0" err="1">
                <a:solidFill>
                  <a:srgbClr val="52525B"/>
                </a:solidFill>
                <a:latin typeface="Inter"/>
              </a:rPr>
              <a:t>vašeg</a:t>
            </a:r>
            <a:r>
              <a:rPr sz="1400" b="0" dirty="0">
                <a:solidFill>
                  <a:srgbClr val="52525B"/>
                </a:solidFill>
                <a:latin typeface="Inter"/>
              </a:rPr>
              <a:t> </a:t>
            </a:r>
            <a:r>
              <a:rPr lang="hr-HR" sz="1400" b="0" dirty="0">
                <a:solidFill>
                  <a:srgbClr val="52525B"/>
                </a:solidFill>
                <a:latin typeface="Inter"/>
              </a:rPr>
              <a:t>diktata u </a:t>
            </a:r>
            <a:r>
              <a:rPr lang="hr-HR" sz="1400" dirty="0">
                <a:solidFill>
                  <a:srgbClr val="52525B"/>
                </a:solidFill>
                <a:latin typeface="Inter"/>
              </a:rPr>
              <a:t>odgovarajuće sekcije.</a:t>
            </a:r>
            <a:endParaRPr sz="1400" b="0" dirty="0">
              <a:solidFill>
                <a:srgbClr val="52525B"/>
              </a:solidFill>
              <a:latin typeface="Inter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863840" y="2651760"/>
            <a:ext cx="3840480" cy="3840480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38160" y="2880360"/>
            <a:ext cx="3505200" cy="3383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0D1B2A"/>
                </a:solidFill>
                <a:latin typeface="Inter"/>
              </a:rPr>
              <a:t>🔄  </a:t>
            </a:r>
            <a:r>
              <a:rPr sz="1800" b="1" dirty="0" err="1">
                <a:solidFill>
                  <a:srgbClr val="0D1B2A"/>
                </a:solidFill>
                <a:latin typeface="Inter"/>
              </a:rPr>
              <a:t>Ažuriranje</a:t>
            </a:r>
            <a:r>
              <a:rPr sz="1800" b="1" dirty="0">
                <a:solidFill>
                  <a:srgbClr val="0D1B2A"/>
                </a:solidFill>
                <a:latin typeface="Inter"/>
              </a:rPr>
              <a:t> </a:t>
            </a:r>
            <a:r>
              <a:rPr sz="1800" b="1" dirty="0" err="1">
                <a:solidFill>
                  <a:srgbClr val="0D1B2A"/>
                </a:solidFill>
                <a:latin typeface="Inter"/>
              </a:rPr>
              <a:t>nalaza</a:t>
            </a:r>
            <a:endParaRPr sz="1800" b="1" dirty="0">
              <a:solidFill>
                <a:srgbClr val="0D1B2A"/>
              </a:solidFill>
              <a:latin typeface="Inter"/>
            </a:endParaRPr>
          </a:p>
          <a:p>
            <a:pPr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</a:pPr>
            <a:r>
              <a:rPr sz="1300" b="0" dirty="0" err="1">
                <a:solidFill>
                  <a:srgbClr val="52525B"/>
                </a:solidFill>
                <a:latin typeface="Inter"/>
              </a:rPr>
              <a:t>Imate</a:t>
            </a:r>
            <a:r>
              <a:rPr sz="1300" b="0" dirty="0">
                <a:solidFill>
                  <a:srgbClr val="52525B"/>
                </a:solidFill>
                <a:latin typeface="Inter"/>
              </a:rPr>
              <a:t> </a:t>
            </a:r>
            <a:r>
              <a:rPr sz="1300" b="0" dirty="0" err="1">
                <a:solidFill>
                  <a:srgbClr val="52525B"/>
                </a:solidFill>
                <a:latin typeface="Inter"/>
              </a:rPr>
              <a:t>pacijenta</a:t>
            </a:r>
            <a:r>
              <a:rPr sz="1300" b="0" dirty="0">
                <a:solidFill>
                  <a:srgbClr val="52525B"/>
                </a:solidFill>
                <a:latin typeface="Inter"/>
              </a:rPr>
              <a:t> </a:t>
            </a:r>
            <a:r>
              <a:rPr sz="1300" b="0" dirty="0" err="1">
                <a:solidFill>
                  <a:srgbClr val="52525B"/>
                </a:solidFill>
                <a:latin typeface="Inter"/>
              </a:rPr>
              <a:t>na</a:t>
            </a:r>
            <a:r>
              <a:rPr sz="1300" b="0" dirty="0">
                <a:solidFill>
                  <a:srgbClr val="52525B"/>
                </a:solidFill>
                <a:latin typeface="Inter"/>
              </a:rPr>
              <a:t> </a:t>
            </a:r>
            <a:r>
              <a:rPr sz="1300" b="0" dirty="0" err="1">
                <a:solidFill>
                  <a:srgbClr val="52525B"/>
                </a:solidFill>
                <a:latin typeface="Inter"/>
              </a:rPr>
              <a:t>kontroli</a:t>
            </a:r>
            <a:r>
              <a:rPr sz="1300" b="0" dirty="0">
                <a:solidFill>
                  <a:srgbClr val="52525B"/>
                </a:solidFill>
                <a:latin typeface="Inter"/>
              </a:rPr>
              <a:t>? Recite </a:t>
            </a:r>
            <a:r>
              <a:rPr sz="1300" b="0" dirty="0" err="1">
                <a:solidFill>
                  <a:srgbClr val="52525B"/>
                </a:solidFill>
                <a:latin typeface="Inter"/>
              </a:rPr>
              <a:t>samo</a:t>
            </a:r>
            <a:r>
              <a:rPr sz="1300" b="0" dirty="0">
                <a:solidFill>
                  <a:srgbClr val="52525B"/>
                </a:solidFill>
                <a:latin typeface="Inter"/>
              </a:rPr>
              <a:t> </a:t>
            </a:r>
            <a:r>
              <a:rPr sz="1300" b="0" dirty="0" err="1">
                <a:solidFill>
                  <a:srgbClr val="52525B"/>
                </a:solidFill>
                <a:latin typeface="Inter"/>
              </a:rPr>
              <a:t>št</a:t>
            </a:r>
            <a:r>
              <a:rPr lang="hr-HR" sz="1300" b="0" dirty="0">
                <a:solidFill>
                  <a:srgbClr val="52525B"/>
                </a:solidFill>
                <a:latin typeface="Inter"/>
              </a:rPr>
              <a:t>a</a:t>
            </a:r>
            <a:r>
              <a:rPr sz="1300" b="0" dirty="0">
                <a:solidFill>
                  <a:srgbClr val="52525B"/>
                </a:solidFill>
                <a:latin typeface="Inter"/>
              </a:rPr>
              <a:t> se </a:t>
            </a:r>
            <a:r>
              <a:rPr sz="1300" b="0" dirty="0" err="1">
                <a:solidFill>
                  <a:srgbClr val="52525B"/>
                </a:solidFill>
                <a:latin typeface="Inter"/>
              </a:rPr>
              <a:t>promijenilo</a:t>
            </a:r>
            <a:r>
              <a:rPr sz="1300" b="0" dirty="0">
                <a:solidFill>
                  <a:srgbClr val="52525B"/>
                </a:solidFill>
                <a:latin typeface="Inter"/>
              </a:rPr>
              <a:t>. </a:t>
            </a:r>
            <a:r>
              <a:rPr sz="1300" b="0" dirty="0" err="1">
                <a:solidFill>
                  <a:srgbClr val="52525B"/>
                </a:solidFill>
                <a:latin typeface="Inter"/>
              </a:rPr>
              <a:t>AiMED</a:t>
            </a:r>
            <a:r>
              <a:rPr sz="1300" b="0" dirty="0">
                <a:solidFill>
                  <a:srgbClr val="52525B"/>
                </a:solidFill>
                <a:latin typeface="Inter"/>
              </a:rPr>
              <a:t> </a:t>
            </a:r>
            <a:r>
              <a:rPr sz="1300" b="0" dirty="0" err="1">
                <a:solidFill>
                  <a:srgbClr val="52525B"/>
                </a:solidFill>
                <a:latin typeface="Inter"/>
              </a:rPr>
              <a:t>ažurira</a:t>
            </a:r>
            <a:r>
              <a:rPr sz="1300" b="0" dirty="0">
                <a:solidFill>
                  <a:srgbClr val="52525B"/>
                </a:solidFill>
                <a:latin typeface="Inter"/>
              </a:rPr>
              <a:t> </a:t>
            </a:r>
            <a:r>
              <a:rPr sz="1300" b="0" dirty="0" err="1">
                <a:solidFill>
                  <a:srgbClr val="52525B"/>
                </a:solidFill>
                <a:latin typeface="Inter"/>
              </a:rPr>
              <a:t>samo</a:t>
            </a:r>
            <a:r>
              <a:rPr sz="1300" b="0" dirty="0">
                <a:solidFill>
                  <a:srgbClr val="52525B"/>
                </a:solidFill>
                <a:latin typeface="Inter"/>
              </a:rPr>
              <a:t> </a:t>
            </a:r>
            <a:r>
              <a:rPr sz="1300" b="0" dirty="0" err="1">
                <a:solidFill>
                  <a:srgbClr val="52525B"/>
                </a:solidFill>
                <a:latin typeface="Inter"/>
              </a:rPr>
              <a:t>te</a:t>
            </a:r>
            <a:r>
              <a:rPr sz="1300" b="0" dirty="0">
                <a:solidFill>
                  <a:srgbClr val="52525B"/>
                </a:solidFill>
                <a:latin typeface="Inter"/>
              </a:rPr>
              <a:t> </a:t>
            </a:r>
            <a:r>
              <a:rPr sz="1300" b="0" dirty="0" err="1">
                <a:solidFill>
                  <a:srgbClr val="52525B"/>
                </a:solidFill>
                <a:latin typeface="Inter"/>
              </a:rPr>
              <a:t>dijelove</a:t>
            </a:r>
            <a:r>
              <a:rPr sz="1300" b="0" dirty="0">
                <a:solidFill>
                  <a:srgbClr val="52525B"/>
                </a:solidFill>
                <a:latin typeface="Inter"/>
              </a:rPr>
              <a:t>, </a:t>
            </a:r>
            <a:r>
              <a:rPr sz="1300" b="0" dirty="0" err="1">
                <a:solidFill>
                  <a:srgbClr val="52525B"/>
                </a:solidFill>
                <a:latin typeface="Inter"/>
              </a:rPr>
              <a:t>ostalo</a:t>
            </a:r>
            <a:r>
              <a:rPr sz="1300" b="0" dirty="0">
                <a:solidFill>
                  <a:srgbClr val="52525B"/>
                </a:solidFill>
                <a:latin typeface="Inter"/>
              </a:rPr>
              <a:t> </a:t>
            </a:r>
            <a:r>
              <a:rPr sz="1300" b="0" dirty="0" err="1">
                <a:solidFill>
                  <a:srgbClr val="52525B"/>
                </a:solidFill>
                <a:latin typeface="Inter"/>
              </a:rPr>
              <a:t>ostaje</a:t>
            </a:r>
            <a:r>
              <a:rPr sz="1300" b="0" dirty="0">
                <a:solidFill>
                  <a:srgbClr val="52525B"/>
                </a:solidFill>
                <a:latin typeface="Inter"/>
              </a:rPr>
              <a:t> </a:t>
            </a:r>
            <a:r>
              <a:rPr sz="1300" b="0" dirty="0" err="1">
                <a:solidFill>
                  <a:srgbClr val="52525B"/>
                </a:solidFill>
                <a:latin typeface="Inter"/>
              </a:rPr>
              <a:t>netaknuto</a:t>
            </a:r>
            <a:r>
              <a:rPr sz="1300" b="0" dirty="0">
                <a:solidFill>
                  <a:srgbClr val="52525B"/>
                </a:solidFill>
                <a:latin typeface="Inter"/>
              </a:rPr>
              <a:t>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1300" b="0" dirty="0">
              <a:solidFill>
                <a:srgbClr val="52525B"/>
              </a:solidFill>
              <a:latin typeface="Inter"/>
            </a:endParaRP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1" dirty="0">
                <a:solidFill>
                  <a:schemeClr val="bg1">
                    <a:lumMod val="50000"/>
                  </a:schemeClr>
                </a:solidFill>
                <a:latin typeface="Inter"/>
              </a:rPr>
              <a:t>"</a:t>
            </a:r>
            <a:r>
              <a:rPr sz="1200" b="1" i="1" dirty="0" err="1">
                <a:solidFill>
                  <a:schemeClr val="bg1">
                    <a:lumMod val="50000"/>
                  </a:schemeClr>
                </a:solidFill>
                <a:latin typeface="Inter"/>
              </a:rPr>
              <a:t>Zamijeni</a:t>
            </a:r>
            <a:r>
              <a:rPr sz="1200" b="1" i="1" dirty="0">
                <a:solidFill>
                  <a:schemeClr val="bg1">
                    <a:lumMod val="50000"/>
                  </a:schemeClr>
                </a:solidFill>
                <a:latin typeface="Inter"/>
              </a:rPr>
              <a:t> </a:t>
            </a:r>
            <a:r>
              <a:rPr sz="1200" b="1" i="1" dirty="0" err="1">
                <a:solidFill>
                  <a:schemeClr val="bg1">
                    <a:lumMod val="50000"/>
                  </a:schemeClr>
                </a:solidFill>
                <a:latin typeface="Inter"/>
              </a:rPr>
              <a:t>Brufen</a:t>
            </a:r>
            <a:r>
              <a:rPr sz="1200" b="1" i="1" dirty="0">
                <a:solidFill>
                  <a:schemeClr val="bg1">
                    <a:lumMod val="50000"/>
                  </a:schemeClr>
                </a:solidFill>
                <a:latin typeface="Inter"/>
              </a:rPr>
              <a:t> </a:t>
            </a:r>
            <a:r>
              <a:rPr sz="1200" b="1" i="1" dirty="0" err="1">
                <a:solidFill>
                  <a:schemeClr val="bg1">
                    <a:lumMod val="50000"/>
                  </a:schemeClr>
                </a:solidFill>
                <a:latin typeface="Inter"/>
              </a:rPr>
              <a:t>sa</a:t>
            </a:r>
            <a:r>
              <a:rPr sz="1200" b="1" i="1" dirty="0">
                <a:solidFill>
                  <a:schemeClr val="bg1">
                    <a:lumMod val="50000"/>
                  </a:schemeClr>
                </a:solidFill>
                <a:latin typeface="Inter"/>
              </a:rPr>
              <a:t> </a:t>
            </a:r>
            <a:r>
              <a:rPr sz="1200" b="1" i="1" dirty="0" err="1">
                <a:solidFill>
                  <a:schemeClr val="bg1">
                    <a:lumMod val="50000"/>
                  </a:schemeClr>
                </a:solidFill>
                <a:latin typeface="Inter"/>
              </a:rPr>
              <a:t>Sumamedom</a:t>
            </a:r>
            <a:r>
              <a:rPr sz="1200" b="1" i="1" dirty="0">
                <a:solidFill>
                  <a:schemeClr val="bg1">
                    <a:lumMod val="50000"/>
                  </a:schemeClr>
                </a:solidFill>
                <a:latin typeface="Inter"/>
              </a:rPr>
              <a:t> 500mg, </a:t>
            </a:r>
            <a:r>
              <a:rPr sz="1200" b="1" i="1" dirty="0" err="1">
                <a:solidFill>
                  <a:schemeClr val="bg1">
                    <a:lumMod val="50000"/>
                  </a:schemeClr>
                </a:solidFill>
                <a:latin typeface="Inter"/>
              </a:rPr>
              <a:t>kontrola</a:t>
            </a:r>
            <a:r>
              <a:rPr sz="1200" b="1" i="1" dirty="0">
                <a:solidFill>
                  <a:schemeClr val="bg1">
                    <a:lumMod val="50000"/>
                  </a:schemeClr>
                </a:solidFill>
                <a:latin typeface="Inter"/>
              </a:rPr>
              <a:t> za 10 dana."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663440"/>
            <a:ext cx="7132320" cy="1828800"/>
          </a:xfrm>
          <a:prstGeom prst="roundRect">
            <a:avLst>
              <a:gd name="adj" fmla="val 5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4983480"/>
            <a:ext cx="64008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Inter"/>
              </a:rPr>
              <a:t>🛡  Privatnost po dizajnu.</a:t>
            </a:r>
          </a:p>
          <a:p>
            <a:pPr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</a:pPr>
            <a:r>
              <a:rPr sz="1500" b="0">
                <a:solidFill>
                  <a:srgbClr val="A1A1AA"/>
                </a:solidFill>
                <a:latin typeface="Inter"/>
              </a:rPr>
              <a:t>Sve što izgovorite se obradi i odmah briše s naših servera. Nijedan audio zapis ne ostaje pohranjen. Nikome. GDPR usklađenost Član 9.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548640"/>
            <a:ext cx="265176" cy="265176"/>
          </a:xfrm>
          <a:prstGeom prst="roundRect">
            <a:avLst>
              <a:gd name="adj" fmla="val 5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57784" y="539496"/>
            <a:ext cx="265176" cy="26517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Inter"/>
              </a:rPr>
              <a:t>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" y="539496"/>
            <a:ext cx="10972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D1B2A"/>
                </a:solidFill>
                <a:latin typeface="Inter"/>
              </a:rPr>
              <a:t>AiMED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31955"/>
            <a:ext cx="7315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80" dirty="0">
                <a:solidFill>
                  <a:srgbClr val="71717A"/>
                </a:solidFill>
                <a:latin typeface="Inter"/>
              </a:rPr>
              <a:t>WORKFLOW — KORAK PO KORAK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3211"/>
            <a:ext cx="73152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dirty="0" err="1">
                <a:solidFill>
                  <a:srgbClr val="0D1B2A"/>
                </a:solidFill>
                <a:latin typeface="Inter"/>
              </a:rPr>
              <a:t>Četiri</a:t>
            </a:r>
            <a:r>
              <a:rPr sz="4400" b="1" dirty="0">
                <a:solidFill>
                  <a:srgbClr val="0D1B2A"/>
                </a:solidFill>
                <a:latin typeface="Inter"/>
              </a:rPr>
              <a:t> </a:t>
            </a:r>
            <a:r>
              <a:rPr sz="4400" b="1" dirty="0" err="1">
                <a:solidFill>
                  <a:srgbClr val="0D1B2A"/>
                </a:solidFill>
                <a:latin typeface="Inter"/>
              </a:rPr>
              <a:t>koraka</a:t>
            </a:r>
            <a:r>
              <a:rPr sz="4400" b="1" dirty="0">
                <a:solidFill>
                  <a:srgbClr val="0D1B2A"/>
                </a:solidFill>
                <a:latin typeface="Inter"/>
              </a:rPr>
              <a:t>. </a:t>
            </a:r>
            <a:r>
              <a:rPr sz="4400" b="1" dirty="0" err="1">
                <a:solidFill>
                  <a:srgbClr val="0D1B2A"/>
                </a:solidFill>
                <a:latin typeface="Inter"/>
              </a:rPr>
              <a:t>Jedan</a:t>
            </a:r>
            <a:r>
              <a:rPr sz="4400" b="1" dirty="0">
                <a:solidFill>
                  <a:srgbClr val="0D1B2A"/>
                </a:solidFill>
                <a:latin typeface="Inter"/>
              </a:rPr>
              <a:t> </a:t>
            </a:r>
            <a:r>
              <a:rPr sz="4400" b="1" dirty="0" err="1">
                <a:solidFill>
                  <a:srgbClr val="0D1B2A"/>
                </a:solidFill>
                <a:latin typeface="Inter"/>
              </a:rPr>
              <a:t>klik</a:t>
            </a:r>
            <a:r>
              <a:rPr sz="4400" b="1" dirty="0">
                <a:solidFill>
                  <a:srgbClr val="0D1B2A"/>
                </a:solidFill>
                <a:latin typeface="Inter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06375"/>
            <a:ext cx="2651760" cy="3462905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286000"/>
            <a:ext cx="13716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E4E4E7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017520"/>
            <a:ext cx="21945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D1B2A"/>
                </a:solidFill>
                <a:latin typeface="Inter"/>
              </a:rPr>
              <a:t>Snimanje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49040"/>
            <a:ext cx="2194560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dirty="0" err="1">
                <a:solidFill>
                  <a:srgbClr val="52525B"/>
                </a:solidFill>
                <a:latin typeface="Inter"/>
              </a:rPr>
              <a:t>Otvorite</a:t>
            </a:r>
            <a:r>
              <a:rPr sz="1300" b="0" dirty="0">
                <a:solidFill>
                  <a:srgbClr val="52525B"/>
                </a:solidFill>
                <a:latin typeface="Inter"/>
              </a:rPr>
              <a:t> </a:t>
            </a:r>
            <a:r>
              <a:rPr sz="1300" b="0" dirty="0" err="1">
                <a:solidFill>
                  <a:srgbClr val="52525B"/>
                </a:solidFill>
                <a:latin typeface="Inter"/>
              </a:rPr>
              <a:t>AiMED</a:t>
            </a:r>
            <a:r>
              <a:rPr sz="1300" b="0" dirty="0">
                <a:solidFill>
                  <a:srgbClr val="52525B"/>
                </a:solidFill>
                <a:latin typeface="Inter"/>
              </a:rPr>
              <a:t> u </a:t>
            </a:r>
            <a:r>
              <a:rPr sz="1300" b="0" dirty="0" err="1">
                <a:solidFill>
                  <a:srgbClr val="52525B"/>
                </a:solidFill>
                <a:latin typeface="Inter"/>
              </a:rPr>
              <a:t>pregledniku</a:t>
            </a:r>
            <a:r>
              <a:rPr sz="1300" b="0" dirty="0">
                <a:solidFill>
                  <a:srgbClr val="52525B"/>
                </a:solidFill>
                <a:latin typeface="Inter"/>
              </a:rPr>
              <a:t> </a:t>
            </a:r>
            <a:r>
              <a:rPr sz="1300" b="0" dirty="0" err="1">
                <a:solidFill>
                  <a:srgbClr val="52525B"/>
                </a:solidFill>
                <a:latin typeface="Inter"/>
              </a:rPr>
              <a:t>i</a:t>
            </a:r>
            <a:r>
              <a:rPr sz="1300" b="0" dirty="0">
                <a:solidFill>
                  <a:srgbClr val="52525B"/>
                </a:solidFill>
                <a:latin typeface="Inter"/>
              </a:rPr>
              <a:t> </a:t>
            </a:r>
            <a:r>
              <a:rPr sz="1300" b="0" dirty="0" err="1">
                <a:solidFill>
                  <a:srgbClr val="52525B"/>
                </a:solidFill>
                <a:latin typeface="Inter"/>
              </a:rPr>
              <a:t>pritisnite</a:t>
            </a:r>
            <a:r>
              <a:rPr sz="1300" b="0" dirty="0">
                <a:solidFill>
                  <a:srgbClr val="52525B"/>
                </a:solidFill>
                <a:latin typeface="Inter"/>
              </a:rPr>
              <a:t> </a:t>
            </a:r>
            <a:r>
              <a:rPr sz="1300" b="0" dirty="0" err="1">
                <a:solidFill>
                  <a:srgbClr val="52525B"/>
                </a:solidFill>
                <a:latin typeface="Inter"/>
              </a:rPr>
              <a:t>dugme</a:t>
            </a:r>
            <a:r>
              <a:rPr sz="1300" b="0" dirty="0">
                <a:solidFill>
                  <a:srgbClr val="52525B"/>
                </a:solidFill>
                <a:latin typeface="Inter"/>
              </a:rPr>
              <a:t> za </a:t>
            </a:r>
            <a:r>
              <a:rPr sz="1300" b="0" dirty="0" err="1">
                <a:solidFill>
                  <a:srgbClr val="52525B"/>
                </a:solidFill>
                <a:latin typeface="Inter"/>
              </a:rPr>
              <a:t>snimanje</a:t>
            </a:r>
            <a:r>
              <a:rPr sz="1300" b="0" dirty="0">
                <a:solidFill>
                  <a:srgbClr val="52525B"/>
                </a:solidFill>
                <a:latin typeface="Inter"/>
              </a:rPr>
              <a:t>. </a:t>
            </a:r>
            <a:r>
              <a:rPr sz="1300" b="0" dirty="0" err="1">
                <a:solidFill>
                  <a:srgbClr val="52525B"/>
                </a:solidFill>
                <a:latin typeface="Inter"/>
              </a:rPr>
              <a:t>Govorite</a:t>
            </a:r>
            <a:r>
              <a:rPr sz="1300" b="0" dirty="0">
                <a:solidFill>
                  <a:srgbClr val="52525B"/>
                </a:solidFill>
                <a:latin typeface="Inter"/>
              </a:rPr>
              <a:t> </a:t>
            </a:r>
            <a:r>
              <a:rPr sz="1300" b="0" dirty="0" err="1">
                <a:solidFill>
                  <a:srgbClr val="52525B"/>
                </a:solidFill>
                <a:latin typeface="Inter"/>
              </a:rPr>
              <a:t>slobodno</a:t>
            </a:r>
            <a:r>
              <a:rPr sz="1300" b="0" dirty="0">
                <a:solidFill>
                  <a:srgbClr val="52525B"/>
                </a:solidFill>
                <a:latin typeface="Inter"/>
              </a:rPr>
              <a:t>, </a:t>
            </a:r>
            <a:r>
              <a:rPr sz="1300" b="0" dirty="0" err="1">
                <a:solidFill>
                  <a:srgbClr val="52525B"/>
                </a:solidFill>
                <a:latin typeface="Inter"/>
              </a:rPr>
              <a:t>kao</a:t>
            </a:r>
            <a:r>
              <a:rPr sz="1300" b="0" dirty="0">
                <a:solidFill>
                  <a:srgbClr val="52525B"/>
                </a:solidFill>
                <a:latin typeface="Inter"/>
              </a:rPr>
              <a:t> </a:t>
            </a:r>
            <a:r>
              <a:rPr sz="1300" b="0" dirty="0" err="1">
                <a:solidFill>
                  <a:srgbClr val="52525B"/>
                </a:solidFill>
                <a:latin typeface="Inter"/>
              </a:rPr>
              <a:t>što</a:t>
            </a:r>
            <a:r>
              <a:rPr sz="1300" b="0" dirty="0">
                <a:solidFill>
                  <a:srgbClr val="52525B"/>
                </a:solidFill>
                <a:latin typeface="Inter"/>
              </a:rPr>
              <a:t> </a:t>
            </a:r>
            <a:r>
              <a:rPr sz="1300" b="0" dirty="0" err="1">
                <a:solidFill>
                  <a:srgbClr val="52525B"/>
                </a:solidFill>
                <a:latin typeface="Inter"/>
              </a:rPr>
              <a:t>razgovarate</a:t>
            </a:r>
            <a:r>
              <a:rPr sz="1300" b="0" dirty="0">
                <a:solidFill>
                  <a:srgbClr val="52525B"/>
                </a:solidFill>
                <a:latin typeface="Inter"/>
              </a:rPr>
              <a:t> s </a:t>
            </a:r>
            <a:r>
              <a:rPr sz="1300" b="0" dirty="0" err="1">
                <a:solidFill>
                  <a:srgbClr val="52525B"/>
                </a:solidFill>
                <a:latin typeface="Inter"/>
              </a:rPr>
              <a:t>pacijentom</a:t>
            </a:r>
            <a:r>
              <a:rPr sz="1300" b="0" dirty="0">
                <a:solidFill>
                  <a:srgbClr val="52525B"/>
                </a:solidFill>
                <a:latin typeface="Inter"/>
              </a:rPr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2206375"/>
            <a:ext cx="2651760" cy="3462905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11880" y="2286000"/>
            <a:ext cx="13716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E4E4E7"/>
                </a:solidFill>
                <a:latin typeface="Inter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3017520"/>
            <a:ext cx="21945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D1B2A"/>
                </a:solidFill>
                <a:latin typeface="Inter"/>
              </a:rPr>
              <a:t>Obrada u realnom</a:t>
            </a:r>
            <a:br/>
            <a:r>
              <a:t>vremenu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3749040"/>
            <a:ext cx="2194560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dirty="0" err="1">
                <a:solidFill>
                  <a:srgbClr val="52525B"/>
                </a:solidFill>
                <a:latin typeface="Inter"/>
              </a:rPr>
              <a:t>AiMED</a:t>
            </a:r>
            <a:r>
              <a:rPr sz="1300" b="0" dirty="0">
                <a:solidFill>
                  <a:srgbClr val="52525B"/>
                </a:solidFill>
                <a:latin typeface="Inter"/>
              </a:rPr>
              <a:t> </a:t>
            </a:r>
            <a:r>
              <a:rPr sz="1300" b="0" dirty="0" err="1">
                <a:solidFill>
                  <a:srgbClr val="52525B"/>
                </a:solidFill>
                <a:latin typeface="Inter"/>
              </a:rPr>
              <a:t>razumije</a:t>
            </a:r>
            <a:r>
              <a:rPr sz="1300" b="0" dirty="0">
                <a:solidFill>
                  <a:srgbClr val="52525B"/>
                </a:solidFill>
                <a:latin typeface="Inter"/>
              </a:rPr>
              <a:t> </a:t>
            </a:r>
            <a:r>
              <a:rPr sz="1300" b="0" dirty="0" err="1">
                <a:solidFill>
                  <a:srgbClr val="52525B"/>
                </a:solidFill>
                <a:latin typeface="Inter"/>
              </a:rPr>
              <a:t>naš</a:t>
            </a:r>
            <a:r>
              <a:rPr sz="1300" b="0" dirty="0">
                <a:solidFill>
                  <a:srgbClr val="52525B"/>
                </a:solidFill>
                <a:latin typeface="Inter"/>
              </a:rPr>
              <a:t> </a:t>
            </a:r>
            <a:r>
              <a:rPr sz="1300" b="0" dirty="0" err="1">
                <a:solidFill>
                  <a:srgbClr val="52525B"/>
                </a:solidFill>
                <a:latin typeface="Inter"/>
              </a:rPr>
              <a:t>medicinski</a:t>
            </a:r>
            <a:r>
              <a:rPr sz="1300" b="0" dirty="0">
                <a:solidFill>
                  <a:srgbClr val="52525B"/>
                </a:solidFill>
                <a:latin typeface="Inter"/>
              </a:rPr>
              <a:t> </a:t>
            </a:r>
            <a:r>
              <a:rPr sz="1300" b="0" dirty="0" err="1">
                <a:solidFill>
                  <a:srgbClr val="52525B"/>
                </a:solidFill>
                <a:latin typeface="Inter"/>
              </a:rPr>
              <a:t>rječnik</a:t>
            </a:r>
            <a:r>
              <a:rPr sz="1300" b="0" dirty="0">
                <a:solidFill>
                  <a:srgbClr val="52525B"/>
                </a:solidFill>
                <a:latin typeface="Inter"/>
              </a:rPr>
              <a:t>: </a:t>
            </a:r>
            <a:r>
              <a:rPr sz="1300" b="0" dirty="0" err="1">
                <a:solidFill>
                  <a:srgbClr val="52525B"/>
                </a:solidFill>
                <a:latin typeface="Inter"/>
              </a:rPr>
              <a:t>dijagnoze</a:t>
            </a:r>
            <a:r>
              <a:rPr sz="1300" b="0" dirty="0">
                <a:solidFill>
                  <a:srgbClr val="52525B"/>
                </a:solidFill>
                <a:latin typeface="Inter"/>
              </a:rPr>
              <a:t>, </a:t>
            </a:r>
            <a:r>
              <a:rPr sz="1300" b="0" dirty="0" err="1">
                <a:solidFill>
                  <a:srgbClr val="52525B"/>
                </a:solidFill>
                <a:latin typeface="Inter"/>
              </a:rPr>
              <a:t>lijekove</a:t>
            </a:r>
            <a:r>
              <a:rPr sz="1300" b="0" dirty="0">
                <a:solidFill>
                  <a:srgbClr val="52525B"/>
                </a:solidFill>
                <a:latin typeface="Inter"/>
              </a:rPr>
              <a:t>, </a:t>
            </a:r>
            <a:r>
              <a:rPr sz="1300" b="0" dirty="0" err="1">
                <a:solidFill>
                  <a:srgbClr val="52525B"/>
                </a:solidFill>
                <a:latin typeface="Inter"/>
              </a:rPr>
              <a:t>latinske</a:t>
            </a:r>
            <a:r>
              <a:rPr sz="1300" b="0" dirty="0">
                <a:solidFill>
                  <a:srgbClr val="52525B"/>
                </a:solidFill>
                <a:latin typeface="Inter"/>
              </a:rPr>
              <a:t> </a:t>
            </a:r>
            <a:r>
              <a:rPr sz="1300" b="0" dirty="0" err="1">
                <a:solidFill>
                  <a:srgbClr val="52525B"/>
                </a:solidFill>
                <a:latin typeface="Inter"/>
              </a:rPr>
              <a:t>nazive</a:t>
            </a:r>
            <a:r>
              <a:rPr sz="1300" b="0" dirty="0">
                <a:solidFill>
                  <a:srgbClr val="52525B"/>
                </a:solidFill>
                <a:latin typeface="Inter"/>
              </a:rPr>
              <a:t>. 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206375"/>
            <a:ext cx="2651760" cy="3462905"/>
          </a:xfrm>
          <a:prstGeom prst="roundRect">
            <a:avLst>
              <a:gd name="adj" fmla="val 5000"/>
            </a:avLst>
          </a:prstGeom>
          <a:solidFill>
            <a:srgbClr val="000000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46520" y="2286000"/>
            <a:ext cx="13716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27272A"/>
                </a:solidFill>
                <a:latin typeface="Inter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017520"/>
            <a:ext cx="21945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AI Strukturiranje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749040"/>
            <a:ext cx="2194560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dirty="0" err="1">
                <a:solidFill>
                  <a:srgbClr val="A1A1AA"/>
                </a:solidFill>
                <a:latin typeface="Inter"/>
              </a:rPr>
              <a:t>Sistem</a:t>
            </a:r>
            <a:r>
              <a:rPr sz="1300" b="0" dirty="0">
                <a:solidFill>
                  <a:srgbClr val="A1A1AA"/>
                </a:solidFill>
                <a:latin typeface="Inter"/>
              </a:rPr>
              <a:t> </a:t>
            </a:r>
            <a:r>
              <a:rPr sz="1300" b="0" dirty="0" err="1">
                <a:solidFill>
                  <a:srgbClr val="A1A1AA"/>
                </a:solidFill>
                <a:latin typeface="Inter"/>
              </a:rPr>
              <a:t>sam</a:t>
            </a:r>
            <a:r>
              <a:rPr sz="1300" b="0" dirty="0">
                <a:solidFill>
                  <a:srgbClr val="A1A1AA"/>
                </a:solidFill>
                <a:latin typeface="Inter"/>
              </a:rPr>
              <a:t> </a:t>
            </a:r>
            <a:r>
              <a:rPr sz="1300" b="0" dirty="0" err="1">
                <a:solidFill>
                  <a:srgbClr val="A1A1AA"/>
                </a:solidFill>
                <a:latin typeface="Inter"/>
              </a:rPr>
              <a:t>prepoznaje</a:t>
            </a:r>
            <a:r>
              <a:rPr sz="1300" b="0" dirty="0">
                <a:solidFill>
                  <a:srgbClr val="A1A1AA"/>
                </a:solidFill>
                <a:latin typeface="Inter"/>
              </a:rPr>
              <a:t> </a:t>
            </a:r>
            <a:r>
              <a:rPr sz="1300" b="0" dirty="0" err="1">
                <a:solidFill>
                  <a:srgbClr val="A1A1AA"/>
                </a:solidFill>
                <a:latin typeface="Inter"/>
              </a:rPr>
              <a:t>šta</a:t>
            </a:r>
            <a:r>
              <a:rPr sz="1300" b="0" dirty="0">
                <a:solidFill>
                  <a:srgbClr val="A1A1AA"/>
                </a:solidFill>
                <a:latin typeface="Inter"/>
              </a:rPr>
              <a:t> je </a:t>
            </a:r>
            <a:r>
              <a:rPr sz="1300" b="0" dirty="0" err="1">
                <a:solidFill>
                  <a:srgbClr val="A1A1AA"/>
                </a:solidFill>
                <a:latin typeface="Inter"/>
              </a:rPr>
              <a:t>anamneza</a:t>
            </a:r>
            <a:r>
              <a:rPr sz="1300" b="0" dirty="0">
                <a:solidFill>
                  <a:srgbClr val="A1A1AA"/>
                </a:solidFill>
                <a:latin typeface="Inter"/>
              </a:rPr>
              <a:t>, </a:t>
            </a:r>
            <a:r>
              <a:rPr sz="1300" b="0" dirty="0" err="1">
                <a:solidFill>
                  <a:srgbClr val="A1A1AA"/>
                </a:solidFill>
                <a:latin typeface="Inter"/>
              </a:rPr>
              <a:t>šta</a:t>
            </a:r>
            <a:r>
              <a:rPr sz="1300" b="0" dirty="0">
                <a:solidFill>
                  <a:srgbClr val="A1A1AA"/>
                </a:solidFill>
                <a:latin typeface="Inter"/>
              </a:rPr>
              <a:t> </a:t>
            </a:r>
            <a:r>
              <a:rPr sz="1300" b="0" dirty="0" err="1">
                <a:solidFill>
                  <a:srgbClr val="A1A1AA"/>
                </a:solidFill>
                <a:latin typeface="Inter"/>
              </a:rPr>
              <a:t>dijagnoza</a:t>
            </a:r>
            <a:r>
              <a:rPr sz="1300" b="0" dirty="0">
                <a:solidFill>
                  <a:srgbClr val="A1A1AA"/>
                </a:solidFill>
                <a:latin typeface="Inter"/>
              </a:rPr>
              <a:t>, </a:t>
            </a:r>
            <a:r>
              <a:rPr sz="1300" b="0" dirty="0" err="1">
                <a:solidFill>
                  <a:srgbClr val="A1A1AA"/>
                </a:solidFill>
                <a:latin typeface="Inter"/>
              </a:rPr>
              <a:t>šta</a:t>
            </a:r>
            <a:r>
              <a:rPr sz="1300" b="0" dirty="0">
                <a:solidFill>
                  <a:srgbClr val="A1A1AA"/>
                </a:solidFill>
                <a:latin typeface="Inter"/>
              </a:rPr>
              <a:t> </a:t>
            </a:r>
            <a:r>
              <a:rPr sz="1300" b="0" dirty="0" err="1">
                <a:solidFill>
                  <a:srgbClr val="A1A1AA"/>
                </a:solidFill>
                <a:latin typeface="Inter"/>
              </a:rPr>
              <a:t>terapija</a:t>
            </a:r>
            <a:r>
              <a:rPr sz="1300" b="0" dirty="0">
                <a:solidFill>
                  <a:srgbClr val="A1A1AA"/>
                </a:solidFill>
                <a:latin typeface="Inter"/>
              </a:rPr>
              <a:t> </a:t>
            </a:r>
            <a:r>
              <a:rPr sz="1300" b="0" dirty="0" err="1">
                <a:solidFill>
                  <a:srgbClr val="A1A1AA"/>
                </a:solidFill>
                <a:latin typeface="Inter"/>
              </a:rPr>
              <a:t>i</a:t>
            </a:r>
            <a:r>
              <a:rPr sz="1300" b="0" dirty="0">
                <a:solidFill>
                  <a:srgbClr val="A1A1AA"/>
                </a:solidFill>
                <a:latin typeface="Inter"/>
              </a:rPr>
              <a:t> </a:t>
            </a:r>
            <a:r>
              <a:rPr sz="1300" b="0" dirty="0" err="1">
                <a:solidFill>
                  <a:srgbClr val="A1A1AA"/>
                </a:solidFill>
                <a:latin typeface="Inter"/>
              </a:rPr>
              <a:t>sve</a:t>
            </a:r>
            <a:r>
              <a:rPr sz="1300" b="0" dirty="0">
                <a:solidFill>
                  <a:srgbClr val="A1A1AA"/>
                </a:solidFill>
                <a:latin typeface="Inter"/>
              </a:rPr>
              <a:t> </a:t>
            </a:r>
            <a:r>
              <a:rPr sz="1300" b="0" dirty="0" err="1">
                <a:solidFill>
                  <a:srgbClr val="A1A1AA"/>
                </a:solidFill>
                <a:latin typeface="Inter"/>
              </a:rPr>
              <a:t>svrstava</a:t>
            </a:r>
            <a:r>
              <a:rPr sz="1300" b="0" dirty="0">
                <a:solidFill>
                  <a:srgbClr val="A1A1AA"/>
                </a:solidFill>
                <a:latin typeface="Inter"/>
              </a:rPr>
              <a:t> </a:t>
            </a:r>
            <a:r>
              <a:rPr sz="1300" b="0" dirty="0" err="1">
                <a:solidFill>
                  <a:srgbClr val="A1A1AA"/>
                </a:solidFill>
                <a:latin typeface="Inter"/>
              </a:rPr>
              <a:t>na</a:t>
            </a:r>
            <a:r>
              <a:rPr sz="1300" b="0" dirty="0">
                <a:solidFill>
                  <a:srgbClr val="A1A1AA"/>
                </a:solidFill>
                <a:latin typeface="Inter"/>
              </a:rPr>
              <a:t> </a:t>
            </a:r>
            <a:r>
              <a:rPr sz="1300" b="0" dirty="0" err="1">
                <a:solidFill>
                  <a:srgbClr val="A1A1AA"/>
                </a:solidFill>
                <a:latin typeface="Inter"/>
              </a:rPr>
              <a:t>pravo</a:t>
            </a:r>
            <a:r>
              <a:rPr sz="1300" b="0" dirty="0">
                <a:solidFill>
                  <a:srgbClr val="A1A1AA"/>
                </a:solidFill>
                <a:latin typeface="Inter"/>
              </a:rPr>
              <a:t> </a:t>
            </a:r>
            <a:r>
              <a:rPr sz="1300" b="0" dirty="0" err="1">
                <a:solidFill>
                  <a:srgbClr val="A1A1AA"/>
                </a:solidFill>
                <a:latin typeface="Inter"/>
              </a:rPr>
              <a:t>mjesto</a:t>
            </a:r>
            <a:r>
              <a:rPr sz="1300" b="0" dirty="0">
                <a:solidFill>
                  <a:srgbClr val="A1A1AA"/>
                </a:solidFill>
                <a:latin typeface="Inter"/>
              </a:rPr>
              <a:t> u </a:t>
            </a:r>
            <a:r>
              <a:rPr sz="1300" b="0" dirty="0" err="1">
                <a:solidFill>
                  <a:srgbClr val="A1A1AA"/>
                </a:solidFill>
                <a:latin typeface="Inter"/>
              </a:rPr>
              <a:t>nalazu</a:t>
            </a:r>
            <a:r>
              <a:rPr sz="1300" b="0" dirty="0">
                <a:solidFill>
                  <a:srgbClr val="A1A1AA"/>
                </a:solidFill>
                <a:latin typeface="Inter"/>
              </a:rPr>
              <a:t>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560" y="2206375"/>
            <a:ext cx="2651760" cy="3462905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81160" y="2286000"/>
            <a:ext cx="13716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E4E4E7"/>
                </a:solidFill>
                <a:latin typeface="Inter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60" y="3017520"/>
            <a:ext cx="21945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D1B2A"/>
                </a:solidFill>
                <a:latin typeface="Inter"/>
              </a:rPr>
              <a:t>Pregled &amp; Export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60" y="3749040"/>
            <a:ext cx="2194560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dirty="0" err="1">
                <a:solidFill>
                  <a:srgbClr val="52525B"/>
                </a:solidFill>
                <a:latin typeface="Inter"/>
              </a:rPr>
              <a:t>Pregledate</a:t>
            </a:r>
            <a:r>
              <a:rPr sz="1300" b="0" dirty="0">
                <a:solidFill>
                  <a:srgbClr val="52525B"/>
                </a:solidFill>
                <a:latin typeface="Inter"/>
              </a:rPr>
              <a:t> </a:t>
            </a:r>
            <a:r>
              <a:rPr sz="1300" b="0" dirty="0" err="1">
                <a:solidFill>
                  <a:srgbClr val="52525B"/>
                </a:solidFill>
                <a:latin typeface="Inter"/>
              </a:rPr>
              <a:t>nalaz</a:t>
            </a:r>
            <a:r>
              <a:rPr sz="1300" b="0" dirty="0">
                <a:solidFill>
                  <a:srgbClr val="52525B"/>
                </a:solidFill>
                <a:latin typeface="Inter"/>
              </a:rPr>
              <a:t>, </a:t>
            </a:r>
            <a:r>
              <a:rPr sz="1300" b="0" dirty="0" err="1">
                <a:solidFill>
                  <a:srgbClr val="52525B"/>
                </a:solidFill>
                <a:latin typeface="Inter"/>
              </a:rPr>
              <a:t>dodate</a:t>
            </a:r>
            <a:r>
              <a:rPr sz="1300" b="0" dirty="0">
                <a:solidFill>
                  <a:srgbClr val="52525B"/>
                </a:solidFill>
                <a:latin typeface="Inter"/>
              </a:rPr>
              <a:t> </a:t>
            </a:r>
            <a:r>
              <a:rPr sz="1300" b="0" dirty="0" err="1">
                <a:solidFill>
                  <a:srgbClr val="52525B"/>
                </a:solidFill>
                <a:latin typeface="Inter"/>
              </a:rPr>
              <a:t>potpis</a:t>
            </a:r>
            <a:r>
              <a:rPr sz="1300" b="0" dirty="0">
                <a:solidFill>
                  <a:srgbClr val="52525B"/>
                </a:solidFill>
                <a:latin typeface="Inter"/>
              </a:rPr>
              <a:t> </a:t>
            </a:r>
            <a:r>
              <a:rPr sz="1300" b="0" dirty="0" err="1">
                <a:solidFill>
                  <a:srgbClr val="52525B"/>
                </a:solidFill>
                <a:latin typeface="Inter"/>
              </a:rPr>
              <a:t>i</a:t>
            </a:r>
            <a:r>
              <a:rPr sz="1300" b="0" dirty="0">
                <a:solidFill>
                  <a:srgbClr val="52525B"/>
                </a:solidFill>
                <a:latin typeface="Inter"/>
              </a:rPr>
              <a:t> </a:t>
            </a:r>
            <a:r>
              <a:rPr sz="1300" b="0" dirty="0" err="1">
                <a:solidFill>
                  <a:srgbClr val="52525B"/>
                </a:solidFill>
                <a:latin typeface="Inter"/>
              </a:rPr>
              <a:t>pečat</a:t>
            </a:r>
            <a:r>
              <a:rPr lang="hr-HR" sz="1300" b="0" dirty="0">
                <a:solidFill>
                  <a:srgbClr val="52525B"/>
                </a:solidFill>
                <a:latin typeface="Inter"/>
              </a:rPr>
              <a:t> ako želite</a:t>
            </a:r>
            <a:r>
              <a:rPr sz="1300" b="0" dirty="0">
                <a:solidFill>
                  <a:srgbClr val="52525B"/>
                </a:solidFill>
                <a:latin typeface="Inter"/>
              </a:rPr>
              <a:t>, </a:t>
            </a:r>
            <a:r>
              <a:rPr sz="1300" b="0" dirty="0" err="1">
                <a:solidFill>
                  <a:srgbClr val="52525B"/>
                </a:solidFill>
                <a:latin typeface="Inter"/>
              </a:rPr>
              <a:t>i</a:t>
            </a:r>
            <a:r>
              <a:rPr sz="1300" b="0" dirty="0">
                <a:solidFill>
                  <a:srgbClr val="52525B"/>
                </a:solidFill>
                <a:latin typeface="Inter"/>
              </a:rPr>
              <a:t> </a:t>
            </a:r>
            <a:r>
              <a:rPr sz="1300" b="0" dirty="0" err="1">
                <a:solidFill>
                  <a:srgbClr val="52525B"/>
                </a:solidFill>
                <a:latin typeface="Inter"/>
              </a:rPr>
              <a:t>šaljete</a:t>
            </a:r>
            <a:r>
              <a:rPr sz="1300" b="0" dirty="0">
                <a:solidFill>
                  <a:srgbClr val="52525B"/>
                </a:solidFill>
                <a:latin typeface="Inter"/>
              </a:rPr>
              <a:t> </a:t>
            </a:r>
            <a:r>
              <a:rPr sz="1300" b="0" dirty="0" err="1">
                <a:solidFill>
                  <a:srgbClr val="52525B"/>
                </a:solidFill>
                <a:latin typeface="Inter"/>
              </a:rPr>
              <a:t>pacijentu</a:t>
            </a:r>
            <a:r>
              <a:rPr sz="1300" b="0" dirty="0">
                <a:solidFill>
                  <a:srgbClr val="52525B"/>
                </a:solidFill>
                <a:latin typeface="Inter"/>
              </a:rPr>
              <a:t>. Ili </a:t>
            </a:r>
            <a:r>
              <a:rPr sz="1300" b="0" dirty="0" err="1">
                <a:solidFill>
                  <a:srgbClr val="52525B"/>
                </a:solidFill>
                <a:latin typeface="Inter"/>
              </a:rPr>
              <a:t>kopirate</a:t>
            </a:r>
            <a:r>
              <a:rPr sz="1300" b="0" dirty="0">
                <a:solidFill>
                  <a:srgbClr val="52525B"/>
                </a:solidFill>
                <a:latin typeface="Inter"/>
              </a:rPr>
              <a:t> u </a:t>
            </a:r>
            <a:r>
              <a:rPr sz="1300" b="0" dirty="0" err="1">
                <a:solidFill>
                  <a:srgbClr val="52525B"/>
                </a:solidFill>
                <a:latin typeface="Inter"/>
              </a:rPr>
              <a:t>vaš</a:t>
            </a:r>
            <a:r>
              <a:rPr sz="1300" b="0" dirty="0">
                <a:solidFill>
                  <a:srgbClr val="52525B"/>
                </a:solidFill>
                <a:latin typeface="Inter"/>
              </a:rPr>
              <a:t> </a:t>
            </a:r>
            <a:r>
              <a:rPr sz="1300" b="0" dirty="0" err="1">
                <a:solidFill>
                  <a:srgbClr val="52525B"/>
                </a:solidFill>
                <a:latin typeface="Inter"/>
              </a:rPr>
              <a:t>bolnički</a:t>
            </a:r>
            <a:r>
              <a:rPr sz="1300" b="0" dirty="0">
                <a:solidFill>
                  <a:srgbClr val="52525B"/>
                </a:solidFill>
                <a:latin typeface="Inter"/>
              </a:rPr>
              <a:t> program </a:t>
            </a:r>
            <a:r>
              <a:rPr sz="1300" b="0" dirty="0" err="1">
                <a:solidFill>
                  <a:srgbClr val="52525B"/>
                </a:solidFill>
                <a:latin typeface="Inter"/>
              </a:rPr>
              <a:t>jednim</a:t>
            </a:r>
            <a:r>
              <a:rPr sz="1300" b="0" dirty="0">
                <a:solidFill>
                  <a:srgbClr val="52525B"/>
                </a:solidFill>
                <a:latin typeface="Inter"/>
              </a:rPr>
              <a:t> </a:t>
            </a:r>
            <a:r>
              <a:rPr sz="1300" b="0" dirty="0" err="1">
                <a:solidFill>
                  <a:srgbClr val="52525B"/>
                </a:solidFill>
                <a:latin typeface="Inter"/>
              </a:rPr>
              <a:t>klikom</a:t>
            </a:r>
            <a:r>
              <a:rPr sz="1300" b="0" dirty="0">
                <a:solidFill>
                  <a:srgbClr val="52525B"/>
                </a:solidFill>
                <a:latin typeface="Inter"/>
              </a:rPr>
              <a:t>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806440"/>
            <a:ext cx="11094415" cy="640080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886943" y="5943600"/>
            <a:ext cx="21945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 err="1">
                <a:solidFill>
                  <a:srgbClr val="52525B"/>
                </a:solidFill>
                <a:latin typeface="Inter"/>
              </a:rPr>
              <a:t>Ručno</a:t>
            </a:r>
            <a:r>
              <a:rPr sz="1400" b="1" dirty="0">
                <a:solidFill>
                  <a:srgbClr val="52525B"/>
                </a:solidFill>
                <a:latin typeface="Inter"/>
              </a:rPr>
              <a:t>: 20–30 </a:t>
            </a:r>
            <a:r>
              <a:rPr sz="1400" b="1" dirty="0" err="1">
                <a:solidFill>
                  <a:srgbClr val="52525B"/>
                </a:solidFill>
                <a:latin typeface="Inter"/>
              </a:rPr>
              <a:t>minuta</a:t>
            </a:r>
            <a:endParaRPr sz="1400" b="1" dirty="0">
              <a:solidFill>
                <a:srgbClr val="52525B"/>
              </a:solidFill>
              <a:latin typeface="Inter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998567" y="5943600"/>
            <a:ext cx="21945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D4D4D8"/>
                </a:solidFill>
                <a:latin typeface="Inter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54258" y="5929729"/>
            <a:ext cx="2538744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D1B2A"/>
                </a:solidFill>
                <a:latin typeface="Inter"/>
              </a:rPr>
              <a:t>S </a:t>
            </a:r>
            <a:r>
              <a:rPr sz="1400" b="1" dirty="0" err="1">
                <a:solidFill>
                  <a:srgbClr val="0D1B2A"/>
                </a:solidFill>
                <a:latin typeface="Inter"/>
              </a:rPr>
              <a:t>AiMED</a:t>
            </a:r>
            <a:r>
              <a:rPr sz="1400" b="1" dirty="0">
                <a:solidFill>
                  <a:srgbClr val="0D1B2A"/>
                </a:solidFill>
                <a:latin typeface="Inter"/>
              </a:rPr>
              <a:t>-om: ~3 minute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548640"/>
            <a:ext cx="265176" cy="265176"/>
          </a:xfrm>
          <a:prstGeom prst="roundRect">
            <a:avLst>
              <a:gd name="adj" fmla="val 5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57784" y="539496"/>
            <a:ext cx="265176" cy="26517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Inter"/>
              </a:rPr>
              <a:t>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" y="539496"/>
            <a:ext cx="10972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D1B2A"/>
                </a:solidFill>
                <a:latin typeface="Inter"/>
              </a:rPr>
              <a:t>AiMED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80">
                <a:solidFill>
                  <a:srgbClr val="71717A"/>
                </a:solidFill>
                <a:latin typeface="Inter"/>
              </a:rPr>
              <a:t>SIGURNOST &amp; USKLAĐENOST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4" y="1416806"/>
            <a:ext cx="6400800" cy="64871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000" b="1" dirty="0" err="1">
                <a:solidFill>
                  <a:srgbClr val="0D1B2A"/>
                </a:solidFill>
                <a:latin typeface="Inter"/>
              </a:rPr>
              <a:t>Privatnost</a:t>
            </a:r>
            <a:r>
              <a:rPr lang="en-US" sz="4000" b="1" dirty="0">
                <a:solidFill>
                  <a:srgbClr val="0D1B2A"/>
                </a:solidFill>
                <a:latin typeface="Inter"/>
              </a:rPr>
              <a:t> po </a:t>
            </a:r>
            <a:r>
              <a:rPr lang="en-US" sz="4000" b="1" dirty="0" err="1">
                <a:solidFill>
                  <a:srgbClr val="0D1B2A"/>
                </a:solidFill>
                <a:latin typeface="Inter"/>
              </a:rPr>
              <a:t>dizajnu</a:t>
            </a:r>
            <a:r>
              <a:rPr lang="en-US" sz="4000" b="1" dirty="0">
                <a:solidFill>
                  <a:srgbClr val="0D1B2A"/>
                </a:solidFill>
                <a:latin typeface="Inter"/>
              </a:rPr>
              <a:t>.</a:t>
            </a:r>
            <a:endParaRPr sz="4000" b="1" dirty="0">
              <a:solidFill>
                <a:srgbClr val="0D1B2A"/>
              </a:solidFill>
              <a:latin typeface="Inter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2524258"/>
            <a:ext cx="5943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D1B2A"/>
                </a:solidFill>
                <a:latin typeface="Inter"/>
              </a:rPr>
              <a:t>🔒  GDPR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dirty="0" err="1">
                <a:solidFill>
                  <a:srgbClr val="3F3F46"/>
                </a:solidFill>
                <a:latin typeface="Inter"/>
              </a:rPr>
              <a:t>Uredba</a:t>
            </a:r>
            <a:r>
              <a:rPr sz="1200" b="0" dirty="0">
                <a:solidFill>
                  <a:srgbClr val="3F3F46"/>
                </a:solidFill>
                <a:latin typeface="Inter"/>
              </a:rPr>
              <a:t> EU 2016/679, </a:t>
            </a:r>
            <a:r>
              <a:rPr sz="1200" b="0" dirty="0" err="1">
                <a:solidFill>
                  <a:srgbClr val="3F3F46"/>
                </a:solidFill>
                <a:latin typeface="Inter"/>
              </a:rPr>
              <a:t>Član</a:t>
            </a:r>
            <a:r>
              <a:rPr sz="1200" b="0" dirty="0">
                <a:solidFill>
                  <a:srgbClr val="3F3F46"/>
                </a:solidFill>
                <a:latin typeface="Inter"/>
              </a:rPr>
              <a:t> 9 (</a:t>
            </a:r>
            <a:r>
              <a:rPr sz="1200" b="0" dirty="0" err="1">
                <a:solidFill>
                  <a:srgbClr val="3F3F46"/>
                </a:solidFill>
                <a:latin typeface="Inter"/>
              </a:rPr>
              <a:t>posebna</a:t>
            </a:r>
            <a:r>
              <a:rPr sz="1200" b="0" dirty="0">
                <a:solidFill>
                  <a:srgbClr val="3F3F46"/>
                </a:solidFill>
                <a:latin typeface="Inter"/>
              </a:rPr>
              <a:t> </a:t>
            </a:r>
            <a:r>
              <a:rPr sz="1200" b="0" dirty="0" err="1">
                <a:solidFill>
                  <a:srgbClr val="3F3F46"/>
                </a:solidFill>
                <a:latin typeface="Inter"/>
              </a:rPr>
              <a:t>kategorija</a:t>
            </a:r>
            <a:r>
              <a:rPr sz="1200" b="0" dirty="0">
                <a:solidFill>
                  <a:srgbClr val="3F3F46"/>
                </a:solidFill>
                <a:latin typeface="Inter"/>
              </a:rPr>
              <a:t>: </a:t>
            </a:r>
            <a:r>
              <a:rPr sz="1200" b="0" dirty="0" err="1">
                <a:solidFill>
                  <a:srgbClr val="3F3F46"/>
                </a:solidFill>
                <a:latin typeface="Inter"/>
              </a:rPr>
              <a:t>medicinski</a:t>
            </a:r>
            <a:r>
              <a:rPr sz="1200" b="0" dirty="0">
                <a:solidFill>
                  <a:srgbClr val="3F3F46"/>
                </a:solidFill>
                <a:latin typeface="Inter"/>
              </a:rPr>
              <a:t> </a:t>
            </a:r>
            <a:r>
              <a:rPr sz="1200" b="0" dirty="0" err="1">
                <a:solidFill>
                  <a:srgbClr val="3F3F46"/>
                </a:solidFill>
                <a:latin typeface="Inter"/>
              </a:rPr>
              <a:t>podaci</a:t>
            </a:r>
            <a:r>
              <a:rPr sz="1200" b="0" dirty="0">
                <a:solidFill>
                  <a:srgbClr val="3F3F46"/>
                </a:solidFill>
                <a:latin typeface="Inter"/>
              </a:rPr>
              <a:t>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072384"/>
            <a:ext cx="5943600" cy="12700"/>
          </a:xfrm>
          <a:prstGeom prst="rect">
            <a:avLst/>
          </a:prstGeom>
          <a:solidFill>
            <a:srgbClr val="F4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3085660"/>
            <a:ext cx="5943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D1B2A"/>
                </a:solidFill>
                <a:latin typeface="Inter"/>
              </a:rPr>
              <a:t>🔒  ZZLP BiH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dirty="0" err="1">
                <a:solidFill>
                  <a:srgbClr val="3F3F46"/>
                </a:solidFill>
                <a:latin typeface="Inter"/>
              </a:rPr>
              <a:t>Zakon</a:t>
            </a:r>
            <a:r>
              <a:rPr sz="1200" b="0" dirty="0">
                <a:solidFill>
                  <a:srgbClr val="3F3F46"/>
                </a:solidFill>
                <a:latin typeface="Inter"/>
              </a:rPr>
              <a:t> o </a:t>
            </a:r>
            <a:r>
              <a:rPr sz="1200" b="0" dirty="0" err="1">
                <a:solidFill>
                  <a:srgbClr val="3F3F46"/>
                </a:solidFill>
                <a:latin typeface="Inter"/>
              </a:rPr>
              <a:t>zaštiti</a:t>
            </a:r>
            <a:r>
              <a:rPr sz="1200" b="0" dirty="0">
                <a:solidFill>
                  <a:srgbClr val="3F3F46"/>
                </a:solidFill>
                <a:latin typeface="Inter"/>
              </a:rPr>
              <a:t> </a:t>
            </a:r>
            <a:r>
              <a:rPr sz="1200" b="0" dirty="0" err="1">
                <a:solidFill>
                  <a:srgbClr val="3F3F46"/>
                </a:solidFill>
                <a:latin typeface="Inter"/>
              </a:rPr>
              <a:t>ličnih</a:t>
            </a:r>
            <a:r>
              <a:rPr sz="1200" b="0" dirty="0">
                <a:solidFill>
                  <a:srgbClr val="3F3F46"/>
                </a:solidFill>
                <a:latin typeface="Inter"/>
              </a:rPr>
              <a:t> </a:t>
            </a:r>
            <a:r>
              <a:rPr sz="1200" b="0" dirty="0" err="1">
                <a:solidFill>
                  <a:srgbClr val="3F3F46"/>
                </a:solidFill>
                <a:latin typeface="Inter"/>
              </a:rPr>
              <a:t>podataka</a:t>
            </a:r>
            <a:r>
              <a:rPr sz="1200" b="0" dirty="0">
                <a:solidFill>
                  <a:srgbClr val="3F3F46"/>
                </a:solidFill>
                <a:latin typeface="Inter"/>
              </a:rPr>
              <a:t> BiH (</a:t>
            </a:r>
            <a:r>
              <a:rPr sz="1200" b="0" dirty="0" err="1">
                <a:solidFill>
                  <a:srgbClr val="3F3F46"/>
                </a:solidFill>
                <a:latin typeface="Inter"/>
              </a:rPr>
              <a:t>saglasnost</a:t>
            </a:r>
            <a:r>
              <a:rPr sz="1200" b="0" dirty="0">
                <a:solidFill>
                  <a:srgbClr val="3F3F46"/>
                </a:solidFill>
                <a:latin typeface="Inter"/>
              </a:rPr>
              <a:t> za </a:t>
            </a:r>
            <a:r>
              <a:rPr sz="1200" b="0" dirty="0" err="1">
                <a:solidFill>
                  <a:srgbClr val="3F3F46"/>
                </a:solidFill>
                <a:latin typeface="Inter"/>
              </a:rPr>
              <a:t>posebne</a:t>
            </a:r>
            <a:r>
              <a:rPr sz="1200" b="0" dirty="0">
                <a:solidFill>
                  <a:srgbClr val="3F3F46"/>
                </a:solidFill>
                <a:latin typeface="Inter"/>
              </a:rPr>
              <a:t> </a:t>
            </a:r>
            <a:r>
              <a:rPr sz="1200" b="0" dirty="0" err="1">
                <a:solidFill>
                  <a:srgbClr val="3F3F46"/>
                </a:solidFill>
                <a:latin typeface="Inter"/>
              </a:rPr>
              <a:t>kategorije</a:t>
            </a:r>
            <a:r>
              <a:rPr sz="1200" b="0" dirty="0">
                <a:solidFill>
                  <a:srgbClr val="3F3F46"/>
                </a:solidFill>
                <a:latin typeface="Inter"/>
              </a:rPr>
              <a:t>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602736"/>
            <a:ext cx="5943600" cy="12700"/>
          </a:xfrm>
          <a:prstGeom prst="rect">
            <a:avLst/>
          </a:prstGeom>
          <a:solidFill>
            <a:srgbClr val="F4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3606250"/>
            <a:ext cx="5943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D1B2A"/>
                </a:solidFill>
                <a:latin typeface="Inter"/>
              </a:rPr>
              <a:t>🔒  ISO 27001:2022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dirty="0" err="1">
                <a:solidFill>
                  <a:srgbClr val="3F3F46"/>
                </a:solidFill>
                <a:latin typeface="Inter"/>
              </a:rPr>
              <a:t>Certifikacija</a:t>
            </a:r>
            <a:r>
              <a:rPr sz="1200" b="0" dirty="0">
                <a:solidFill>
                  <a:srgbClr val="3F3F46"/>
                </a:solidFill>
                <a:latin typeface="Inter"/>
              </a:rPr>
              <a:t> u </a:t>
            </a:r>
            <a:r>
              <a:rPr lang="hr-HR" sz="1200" b="0" dirty="0">
                <a:solidFill>
                  <a:srgbClr val="3F3F46"/>
                </a:solidFill>
                <a:latin typeface="Inter"/>
              </a:rPr>
              <a:t>toku</a:t>
            </a:r>
            <a:endParaRPr sz="1200" b="0" dirty="0">
              <a:solidFill>
                <a:srgbClr val="3F3F46"/>
              </a:solidFill>
              <a:latin typeface="Inter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48640" y="4133088"/>
            <a:ext cx="5943600" cy="12700"/>
          </a:xfrm>
          <a:prstGeom prst="rect">
            <a:avLst/>
          </a:prstGeom>
          <a:solidFill>
            <a:srgbClr val="F4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4151890"/>
            <a:ext cx="5943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D1B2A"/>
                </a:solidFill>
                <a:latin typeface="Inter"/>
              </a:rPr>
              <a:t>🔒  </a:t>
            </a:r>
            <a:r>
              <a:rPr sz="1400" b="1" dirty="0" err="1">
                <a:solidFill>
                  <a:srgbClr val="0D1B2A"/>
                </a:solidFill>
                <a:latin typeface="Inter"/>
              </a:rPr>
              <a:t>Enkripcija</a:t>
            </a:r>
            <a:endParaRPr sz="1400" b="1" dirty="0">
              <a:solidFill>
                <a:srgbClr val="0D1B2A"/>
              </a:solidFill>
              <a:latin typeface="Inter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3F3F46"/>
                </a:solidFill>
                <a:latin typeface="Inter"/>
              </a:rPr>
              <a:t>AES-256 at rest · TLS 1.3 in transit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663440"/>
            <a:ext cx="5943600" cy="12700"/>
          </a:xfrm>
          <a:prstGeom prst="rect">
            <a:avLst/>
          </a:prstGeom>
          <a:solidFill>
            <a:srgbClr val="F4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4682242"/>
            <a:ext cx="5943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D1B2A"/>
                </a:solidFill>
                <a:latin typeface="Inter"/>
              </a:rPr>
              <a:t>🔒  Nema audio pohrane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F3F46"/>
                </a:solidFill>
                <a:latin typeface="Inter"/>
              </a:rPr>
              <a:t>Zapisi se brišu odmah po obradi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193792"/>
            <a:ext cx="5943600" cy="12700"/>
          </a:xfrm>
          <a:prstGeom prst="rect">
            <a:avLst/>
          </a:prstGeom>
          <a:solidFill>
            <a:srgbClr val="F4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5212594"/>
            <a:ext cx="5943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D1B2A"/>
                </a:solidFill>
                <a:latin typeface="Inter"/>
              </a:rPr>
              <a:t>🔒  RBAC pristup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F3F46"/>
                </a:solidFill>
                <a:latin typeface="Inter"/>
              </a:rPr>
              <a:t>Svaki ljekar vidi samo svoje nalaze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724144"/>
            <a:ext cx="5943600" cy="12700"/>
          </a:xfrm>
          <a:prstGeom prst="rect">
            <a:avLst/>
          </a:prstGeom>
          <a:solidFill>
            <a:srgbClr val="F4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5742946"/>
            <a:ext cx="5943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D1B2A"/>
                </a:solidFill>
                <a:latin typeface="Inter"/>
              </a:rPr>
              <a:t>🔒  EU infrastruktura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F3F46"/>
                </a:solidFill>
                <a:latin typeface="Inter"/>
              </a:rPr>
              <a:t>Svi serveri unutar EU granica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0" y="2377440"/>
            <a:ext cx="4480560" cy="3840480"/>
          </a:xfrm>
          <a:prstGeom prst="roundRect">
            <a:avLst>
              <a:gd name="adj" fmla="val 5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98080" y="2743200"/>
            <a:ext cx="3749040" cy="3108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hr-HR" sz="1100" b="1" spc="180" dirty="0">
                <a:solidFill>
                  <a:srgbClr val="A1A1AA"/>
                </a:solidFill>
                <a:latin typeface="Inter"/>
              </a:rPr>
              <a:t>ČESTO</a:t>
            </a:r>
            <a:r>
              <a:rPr sz="1100" b="1" spc="180" dirty="0">
                <a:solidFill>
                  <a:srgbClr val="A1A1AA"/>
                </a:solidFill>
                <a:latin typeface="Inter"/>
              </a:rPr>
              <a:t> PITANJE</a:t>
            </a:r>
            <a:r>
              <a:rPr lang="hr-HR" sz="1100" b="1" spc="180" dirty="0">
                <a:solidFill>
                  <a:srgbClr val="A1A1AA"/>
                </a:solidFill>
                <a:latin typeface="Inter"/>
              </a:rPr>
              <a:t>:</a:t>
            </a:r>
            <a:endParaRPr sz="1100" b="1" spc="180" dirty="0">
              <a:solidFill>
                <a:srgbClr val="A1A1AA"/>
              </a:solidFill>
              <a:latin typeface="Inter"/>
            </a:endParaRPr>
          </a:p>
          <a:p>
            <a:pPr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</a:pPr>
            <a:r>
              <a:rPr sz="1800" b="0" dirty="0">
                <a:solidFill>
                  <a:srgbClr val="FFFFFF"/>
                </a:solidFill>
                <a:latin typeface="Inter"/>
              </a:rPr>
              <a:t>"</a:t>
            </a:r>
            <a:r>
              <a:rPr lang="en-US" sz="1800" b="0" dirty="0" err="1">
                <a:solidFill>
                  <a:srgbClr val="FFFFFF"/>
                </a:solidFill>
                <a:latin typeface="Inter"/>
              </a:rPr>
              <a:t>H</a:t>
            </a:r>
            <a:r>
              <a:rPr sz="1800" b="0" dirty="0" err="1">
                <a:solidFill>
                  <a:srgbClr val="FFFFFF"/>
                </a:solidFill>
                <a:latin typeface="Inter"/>
              </a:rPr>
              <a:t>oće</a:t>
            </a:r>
            <a:r>
              <a:rPr sz="1800" b="0" dirty="0">
                <a:solidFill>
                  <a:srgbClr val="FFFFFF"/>
                </a:solidFill>
                <a:latin typeface="Inter"/>
              </a:rPr>
              <a:t> li </a:t>
            </a:r>
            <a:r>
              <a:rPr sz="1800" b="0" dirty="0" err="1">
                <a:solidFill>
                  <a:srgbClr val="FFFFFF"/>
                </a:solidFill>
                <a:latin typeface="Inter"/>
              </a:rPr>
              <a:t>AiMED</a:t>
            </a:r>
            <a:r>
              <a:rPr sz="1800" b="0" dirty="0">
                <a:solidFill>
                  <a:srgbClr val="FFFFFF"/>
                </a:solidFill>
                <a:latin typeface="Inter"/>
              </a:rPr>
              <a:t> </a:t>
            </a:r>
            <a:r>
              <a:rPr sz="1800" b="0" dirty="0" err="1">
                <a:solidFill>
                  <a:srgbClr val="FFFFFF"/>
                </a:solidFill>
                <a:latin typeface="Inter"/>
              </a:rPr>
              <a:t>čuvati</a:t>
            </a:r>
            <a:r>
              <a:rPr sz="1800" b="0" dirty="0">
                <a:solidFill>
                  <a:srgbClr val="FFFFFF"/>
                </a:solidFill>
                <a:latin typeface="Inter"/>
              </a:rPr>
              <a:t> </a:t>
            </a:r>
            <a:r>
              <a:rPr sz="1800" b="0" dirty="0" err="1">
                <a:solidFill>
                  <a:srgbClr val="FFFFFF"/>
                </a:solidFill>
                <a:latin typeface="Inter"/>
              </a:rPr>
              <a:t>ili</a:t>
            </a:r>
            <a:r>
              <a:rPr sz="1800" b="0" dirty="0">
                <a:solidFill>
                  <a:srgbClr val="FFFFFF"/>
                </a:solidFill>
                <a:latin typeface="Inter"/>
              </a:rPr>
              <a:t> </a:t>
            </a:r>
            <a:r>
              <a:rPr sz="1800" b="0" dirty="0" err="1">
                <a:solidFill>
                  <a:srgbClr val="FFFFFF"/>
                </a:solidFill>
                <a:latin typeface="Inter"/>
              </a:rPr>
              <a:t>dijeliti</a:t>
            </a:r>
            <a:r>
              <a:rPr sz="1800" b="0" dirty="0">
                <a:solidFill>
                  <a:srgbClr val="FFFFFF"/>
                </a:solidFill>
                <a:latin typeface="Inter"/>
              </a:rPr>
              <a:t> </a:t>
            </a:r>
            <a:r>
              <a:rPr sz="1800" b="0" dirty="0" err="1">
                <a:solidFill>
                  <a:srgbClr val="FFFFFF"/>
                </a:solidFill>
                <a:latin typeface="Inter"/>
              </a:rPr>
              <a:t>podatke</a:t>
            </a:r>
            <a:r>
              <a:rPr sz="1800" b="0" dirty="0">
                <a:solidFill>
                  <a:srgbClr val="FFFFFF"/>
                </a:solidFill>
                <a:latin typeface="Inter"/>
              </a:rPr>
              <a:t> </a:t>
            </a:r>
            <a:r>
              <a:rPr sz="1800" b="0" dirty="0" err="1">
                <a:solidFill>
                  <a:srgbClr val="FFFFFF"/>
                </a:solidFill>
                <a:latin typeface="Inter"/>
              </a:rPr>
              <a:t>mojih</a:t>
            </a:r>
            <a:r>
              <a:rPr sz="1800" b="0" dirty="0">
                <a:solidFill>
                  <a:srgbClr val="FFFFFF"/>
                </a:solidFill>
                <a:latin typeface="Inter"/>
              </a:rPr>
              <a:t> </a:t>
            </a:r>
            <a:r>
              <a:rPr sz="1800" b="0" dirty="0" err="1">
                <a:solidFill>
                  <a:srgbClr val="FFFFFF"/>
                </a:solidFill>
                <a:latin typeface="Inter"/>
              </a:rPr>
              <a:t>pacijenata</a:t>
            </a:r>
            <a:r>
              <a:rPr sz="1800" b="0" dirty="0">
                <a:solidFill>
                  <a:srgbClr val="FFFFFF"/>
                </a:solidFill>
                <a:latin typeface="Inter"/>
              </a:rPr>
              <a:t>?"</a:t>
            </a:r>
          </a:p>
          <a:p>
            <a:pPr algn="l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</a:pPr>
            <a:r>
              <a:rPr sz="2800" b="1" dirty="0">
                <a:solidFill>
                  <a:srgbClr val="FFFFFF"/>
                </a:solidFill>
                <a:latin typeface="Inter"/>
              </a:rPr>
              <a:t>Ne. </a:t>
            </a:r>
            <a:r>
              <a:rPr sz="2800" b="1" dirty="0" err="1">
                <a:solidFill>
                  <a:srgbClr val="FFFFFF"/>
                </a:solidFill>
                <a:latin typeface="Inter"/>
              </a:rPr>
              <a:t>Nikada</a:t>
            </a:r>
            <a:r>
              <a:rPr sz="2800" b="1" dirty="0">
                <a:solidFill>
                  <a:srgbClr val="FFFFFF"/>
                </a:solidFill>
                <a:latin typeface="Inter"/>
              </a:rPr>
              <a:t>.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dirty="0" err="1">
                <a:solidFill>
                  <a:schemeClr val="bg1">
                    <a:lumMod val="85000"/>
                  </a:schemeClr>
                </a:solidFill>
                <a:latin typeface="Inter"/>
              </a:rPr>
              <a:t>Sve</a:t>
            </a:r>
            <a:r>
              <a:rPr sz="1500" b="0" dirty="0">
                <a:solidFill>
                  <a:schemeClr val="bg1">
                    <a:lumMod val="85000"/>
                  </a:schemeClr>
                </a:solidFill>
                <a:latin typeface="Inter"/>
              </a:rPr>
              <a:t> </a:t>
            </a:r>
            <a:r>
              <a:rPr sz="1500" b="0" dirty="0" err="1">
                <a:solidFill>
                  <a:schemeClr val="bg1">
                    <a:lumMod val="85000"/>
                  </a:schemeClr>
                </a:solidFill>
                <a:latin typeface="Inter"/>
              </a:rPr>
              <a:t>što</a:t>
            </a:r>
            <a:r>
              <a:rPr sz="1500" b="0" dirty="0">
                <a:solidFill>
                  <a:schemeClr val="bg1">
                    <a:lumMod val="85000"/>
                  </a:schemeClr>
                </a:solidFill>
                <a:latin typeface="Inter"/>
              </a:rPr>
              <a:t> </a:t>
            </a:r>
            <a:r>
              <a:rPr sz="1500" b="0" dirty="0" err="1">
                <a:solidFill>
                  <a:schemeClr val="bg1">
                    <a:lumMod val="85000"/>
                  </a:schemeClr>
                </a:solidFill>
                <a:latin typeface="Inter"/>
              </a:rPr>
              <a:t>izgovorite</a:t>
            </a:r>
            <a:r>
              <a:rPr sz="1500" b="0" dirty="0">
                <a:solidFill>
                  <a:schemeClr val="bg1">
                    <a:lumMod val="85000"/>
                  </a:schemeClr>
                </a:solidFill>
                <a:latin typeface="Inter"/>
              </a:rPr>
              <a:t> se </a:t>
            </a:r>
            <a:r>
              <a:rPr sz="1500" b="0" dirty="0" err="1">
                <a:solidFill>
                  <a:schemeClr val="bg1">
                    <a:lumMod val="85000"/>
                  </a:schemeClr>
                </a:solidFill>
                <a:latin typeface="Inter"/>
              </a:rPr>
              <a:t>obradi</a:t>
            </a:r>
            <a:r>
              <a:rPr sz="1500" b="0" dirty="0">
                <a:solidFill>
                  <a:schemeClr val="bg1">
                    <a:lumMod val="85000"/>
                  </a:schemeClr>
                </a:solidFill>
                <a:latin typeface="Inter"/>
              </a:rPr>
              <a:t> </a:t>
            </a:r>
            <a:r>
              <a:rPr sz="1500" b="0" dirty="0" err="1">
                <a:solidFill>
                  <a:schemeClr val="bg1">
                    <a:lumMod val="85000"/>
                  </a:schemeClr>
                </a:solidFill>
                <a:latin typeface="Inter"/>
              </a:rPr>
              <a:t>i</a:t>
            </a:r>
            <a:r>
              <a:rPr sz="1500" b="0" dirty="0">
                <a:solidFill>
                  <a:schemeClr val="bg1">
                    <a:lumMod val="85000"/>
                  </a:schemeClr>
                </a:solidFill>
                <a:latin typeface="Inter"/>
              </a:rPr>
              <a:t> </a:t>
            </a:r>
            <a:r>
              <a:rPr sz="1500" b="0" dirty="0" err="1">
                <a:solidFill>
                  <a:schemeClr val="bg1">
                    <a:lumMod val="85000"/>
                  </a:schemeClr>
                </a:solidFill>
                <a:latin typeface="Inter"/>
              </a:rPr>
              <a:t>odmah</a:t>
            </a:r>
            <a:r>
              <a:rPr sz="1500" b="0" dirty="0">
                <a:solidFill>
                  <a:schemeClr val="bg1">
                    <a:lumMod val="85000"/>
                  </a:schemeClr>
                </a:solidFill>
                <a:latin typeface="Inter"/>
              </a:rPr>
              <a:t> </a:t>
            </a:r>
            <a:r>
              <a:rPr sz="1500" b="0" dirty="0" err="1">
                <a:solidFill>
                  <a:schemeClr val="bg1">
                    <a:lumMod val="85000"/>
                  </a:schemeClr>
                </a:solidFill>
                <a:latin typeface="Inter"/>
              </a:rPr>
              <a:t>briše</a:t>
            </a:r>
            <a:r>
              <a:rPr sz="1500" b="0" dirty="0">
                <a:solidFill>
                  <a:schemeClr val="bg1">
                    <a:lumMod val="85000"/>
                  </a:schemeClr>
                </a:solidFill>
                <a:latin typeface="Inter"/>
              </a:rPr>
              <a:t>. </a:t>
            </a:r>
            <a:r>
              <a:rPr sz="1500" b="0" dirty="0" err="1">
                <a:solidFill>
                  <a:schemeClr val="bg1">
                    <a:lumMod val="85000"/>
                  </a:schemeClr>
                </a:solidFill>
                <a:latin typeface="Inter"/>
              </a:rPr>
              <a:t>Nijedan</a:t>
            </a:r>
            <a:r>
              <a:rPr sz="1500" b="0" dirty="0">
                <a:solidFill>
                  <a:schemeClr val="bg1">
                    <a:lumMod val="85000"/>
                  </a:schemeClr>
                </a:solidFill>
                <a:latin typeface="Inter"/>
              </a:rPr>
              <a:t> audio </a:t>
            </a:r>
            <a:r>
              <a:rPr sz="1500" b="0" dirty="0" err="1">
                <a:solidFill>
                  <a:schemeClr val="bg1">
                    <a:lumMod val="85000"/>
                  </a:schemeClr>
                </a:solidFill>
                <a:latin typeface="Inter"/>
              </a:rPr>
              <a:t>zapis</a:t>
            </a:r>
            <a:r>
              <a:rPr sz="1500" b="0" dirty="0">
                <a:solidFill>
                  <a:schemeClr val="bg1">
                    <a:lumMod val="85000"/>
                  </a:schemeClr>
                </a:solidFill>
                <a:latin typeface="Inter"/>
              </a:rPr>
              <a:t> ne </a:t>
            </a:r>
            <a:r>
              <a:rPr sz="1500" b="0" dirty="0" err="1">
                <a:solidFill>
                  <a:schemeClr val="bg1">
                    <a:lumMod val="85000"/>
                  </a:schemeClr>
                </a:solidFill>
                <a:latin typeface="Inter"/>
              </a:rPr>
              <a:t>ostaje</a:t>
            </a:r>
            <a:r>
              <a:rPr sz="1500" b="0" dirty="0">
                <a:solidFill>
                  <a:schemeClr val="bg1">
                    <a:lumMod val="85000"/>
                  </a:schemeClr>
                </a:solidFill>
                <a:latin typeface="Inter"/>
              </a:rPr>
              <a:t> </a:t>
            </a:r>
            <a:r>
              <a:rPr sz="1500" b="0" dirty="0" err="1">
                <a:solidFill>
                  <a:schemeClr val="bg1">
                    <a:lumMod val="85000"/>
                  </a:schemeClr>
                </a:solidFill>
                <a:latin typeface="Inter"/>
              </a:rPr>
              <a:t>pohranjen</a:t>
            </a:r>
            <a:r>
              <a:rPr sz="1500" b="0" dirty="0">
                <a:solidFill>
                  <a:schemeClr val="bg1">
                    <a:lumMod val="85000"/>
                  </a:schemeClr>
                </a:solidFill>
                <a:latin typeface="Inter"/>
              </a:rPr>
              <a:t>. </a:t>
            </a:r>
            <a:r>
              <a:rPr sz="1500" b="0" dirty="0" err="1">
                <a:solidFill>
                  <a:schemeClr val="bg1">
                    <a:lumMod val="85000"/>
                  </a:schemeClr>
                </a:solidFill>
                <a:latin typeface="Inter"/>
              </a:rPr>
              <a:t>Nikome</a:t>
            </a:r>
            <a:r>
              <a:rPr sz="1500" b="0" dirty="0">
                <a:solidFill>
                  <a:schemeClr val="bg1">
                    <a:lumMod val="85000"/>
                  </a:schemeClr>
                </a:solidFill>
                <a:latin typeface="Inter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548640"/>
            <a:ext cx="265176" cy="265176"/>
          </a:xfrm>
          <a:prstGeom prst="roundRect">
            <a:avLst>
              <a:gd name="adj" fmla="val 5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57784" y="539496"/>
            <a:ext cx="265176" cy="26517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Inter"/>
              </a:rPr>
              <a:t>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" y="539496"/>
            <a:ext cx="10972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D1B2A"/>
                </a:solidFill>
                <a:latin typeface="Inter"/>
              </a:rPr>
              <a:t>AiMED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85569"/>
            <a:ext cx="7315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80" dirty="0">
                <a:solidFill>
                  <a:srgbClr val="71717A"/>
                </a:solidFill>
                <a:latin typeface="Inter"/>
              </a:rPr>
              <a:t>ČESTA PITANJA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42884"/>
            <a:ext cx="73152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dirty="0" err="1">
                <a:solidFill>
                  <a:srgbClr val="0D1B2A"/>
                </a:solidFill>
                <a:latin typeface="Inter"/>
              </a:rPr>
              <a:t>Česta</a:t>
            </a:r>
            <a:r>
              <a:rPr sz="3600" b="1" dirty="0">
                <a:solidFill>
                  <a:srgbClr val="0D1B2A"/>
                </a:solidFill>
                <a:latin typeface="Inter"/>
              </a:rPr>
              <a:t> </a:t>
            </a:r>
            <a:r>
              <a:rPr sz="3600" b="1" dirty="0" err="1">
                <a:solidFill>
                  <a:srgbClr val="0D1B2A"/>
                </a:solidFill>
                <a:latin typeface="Inter"/>
              </a:rPr>
              <a:t>pitanja</a:t>
            </a:r>
            <a:r>
              <a:rPr sz="3600" b="1" dirty="0">
                <a:solidFill>
                  <a:srgbClr val="0D1B2A"/>
                </a:solidFill>
                <a:latin typeface="Inter"/>
              </a:rPr>
              <a:t> o A</a:t>
            </a:r>
            <a:r>
              <a:rPr lang="hr-HR" sz="3600" b="1" dirty="0" err="1">
                <a:solidFill>
                  <a:srgbClr val="0D1B2A"/>
                </a:solidFill>
                <a:latin typeface="Inter"/>
              </a:rPr>
              <a:t>iMED</a:t>
            </a:r>
            <a:r>
              <a:rPr lang="hr-HR" sz="3600" b="1" dirty="0">
                <a:solidFill>
                  <a:srgbClr val="0D1B2A"/>
                </a:solidFill>
                <a:latin typeface="Inter"/>
              </a:rPr>
              <a:t>-u</a:t>
            </a:r>
            <a:endParaRPr sz="3600" b="1" dirty="0">
              <a:solidFill>
                <a:srgbClr val="0D1B2A"/>
              </a:solidFill>
              <a:latin typeface="Inter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48640" y="2034695"/>
            <a:ext cx="5303520" cy="1261872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171856"/>
            <a:ext cx="507492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 err="1">
                <a:solidFill>
                  <a:srgbClr val="0D1B2A"/>
                </a:solidFill>
                <a:latin typeface="Inter"/>
              </a:rPr>
              <a:t>Kako</a:t>
            </a:r>
            <a:r>
              <a:rPr sz="1400" b="1" dirty="0">
                <a:solidFill>
                  <a:srgbClr val="0D1B2A"/>
                </a:solidFill>
                <a:latin typeface="Inter"/>
              </a:rPr>
              <a:t> </a:t>
            </a:r>
            <a:r>
              <a:rPr sz="1400" b="1" dirty="0" err="1">
                <a:solidFill>
                  <a:srgbClr val="0D1B2A"/>
                </a:solidFill>
                <a:latin typeface="Inter"/>
              </a:rPr>
              <a:t>početi</a:t>
            </a:r>
            <a:r>
              <a:rPr sz="1400" b="1" dirty="0">
                <a:solidFill>
                  <a:srgbClr val="0D1B2A"/>
                </a:solidFill>
                <a:latin typeface="Inter"/>
              </a:rPr>
              <a:t> </a:t>
            </a:r>
            <a:r>
              <a:rPr sz="1400" b="1" dirty="0" err="1">
                <a:solidFill>
                  <a:srgbClr val="0D1B2A"/>
                </a:solidFill>
                <a:latin typeface="Inter"/>
              </a:rPr>
              <a:t>sa</a:t>
            </a:r>
            <a:r>
              <a:rPr sz="1400" b="1" dirty="0">
                <a:solidFill>
                  <a:srgbClr val="0D1B2A"/>
                </a:solidFill>
                <a:latin typeface="Inter"/>
              </a:rPr>
              <a:t> </a:t>
            </a:r>
            <a:r>
              <a:rPr sz="1400" b="1" dirty="0" err="1">
                <a:solidFill>
                  <a:srgbClr val="0D1B2A"/>
                </a:solidFill>
                <a:latin typeface="Inter"/>
              </a:rPr>
              <a:t>AiMED</a:t>
            </a:r>
            <a:r>
              <a:rPr sz="1400" b="1" dirty="0">
                <a:solidFill>
                  <a:srgbClr val="0D1B2A"/>
                </a:solidFill>
                <a:latin typeface="Inter"/>
              </a:rPr>
              <a:t>-om?</a:t>
            </a:r>
          </a:p>
          <a:p>
            <a:pPr algn="l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</a:pPr>
            <a:r>
              <a:rPr sz="1300" b="0" dirty="0" err="1">
                <a:solidFill>
                  <a:srgbClr val="52525B"/>
                </a:solidFill>
                <a:latin typeface="Inter"/>
              </a:rPr>
              <a:t>Kreirajte</a:t>
            </a:r>
            <a:r>
              <a:rPr sz="1300" b="0" dirty="0">
                <a:solidFill>
                  <a:srgbClr val="52525B"/>
                </a:solidFill>
                <a:latin typeface="Inter"/>
              </a:rPr>
              <a:t> demo </a:t>
            </a:r>
            <a:r>
              <a:rPr sz="1300" b="0" dirty="0" err="1">
                <a:solidFill>
                  <a:srgbClr val="52525B"/>
                </a:solidFill>
                <a:latin typeface="Inter"/>
              </a:rPr>
              <a:t>nalog</a:t>
            </a:r>
            <a:r>
              <a:rPr sz="1300" b="0" dirty="0">
                <a:solidFill>
                  <a:srgbClr val="52525B"/>
                </a:solidFill>
                <a:latin typeface="Inter"/>
              </a:rPr>
              <a:t>, </a:t>
            </a:r>
            <a:r>
              <a:rPr sz="1300" b="0" dirty="0" err="1">
                <a:solidFill>
                  <a:srgbClr val="52525B"/>
                </a:solidFill>
                <a:latin typeface="Inter"/>
              </a:rPr>
              <a:t>povežite</a:t>
            </a:r>
            <a:r>
              <a:rPr sz="1300" b="0" dirty="0">
                <a:solidFill>
                  <a:srgbClr val="52525B"/>
                </a:solidFill>
                <a:latin typeface="Inter"/>
              </a:rPr>
              <a:t> </a:t>
            </a:r>
            <a:r>
              <a:rPr sz="1300" b="0" dirty="0" err="1">
                <a:solidFill>
                  <a:srgbClr val="52525B"/>
                </a:solidFill>
                <a:latin typeface="Inter"/>
              </a:rPr>
              <a:t>mikrofon</a:t>
            </a:r>
            <a:r>
              <a:rPr sz="1300" b="0" dirty="0">
                <a:solidFill>
                  <a:srgbClr val="52525B"/>
                </a:solidFill>
                <a:latin typeface="Inter"/>
              </a:rPr>
              <a:t> </a:t>
            </a:r>
            <a:r>
              <a:rPr sz="1300" b="0" dirty="0" err="1">
                <a:solidFill>
                  <a:srgbClr val="52525B"/>
                </a:solidFill>
                <a:latin typeface="Inter"/>
              </a:rPr>
              <a:t>i</a:t>
            </a:r>
            <a:r>
              <a:rPr sz="1300" b="0" dirty="0">
                <a:solidFill>
                  <a:srgbClr val="52525B"/>
                </a:solidFill>
                <a:latin typeface="Inter"/>
              </a:rPr>
              <a:t> </a:t>
            </a:r>
            <a:r>
              <a:rPr sz="1300" b="0" dirty="0" err="1">
                <a:solidFill>
                  <a:srgbClr val="52525B"/>
                </a:solidFill>
                <a:latin typeface="Inter"/>
              </a:rPr>
              <a:t>započnite</a:t>
            </a:r>
            <a:r>
              <a:rPr sz="1300" b="0" dirty="0">
                <a:solidFill>
                  <a:srgbClr val="52525B"/>
                </a:solidFill>
                <a:latin typeface="Inter"/>
              </a:rPr>
              <a:t> </a:t>
            </a:r>
            <a:r>
              <a:rPr sz="1300" b="0" dirty="0" err="1">
                <a:solidFill>
                  <a:srgbClr val="52525B"/>
                </a:solidFill>
                <a:latin typeface="Inter"/>
              </a:rPr>
              <a:t>diktiranje</a:t>
            </a:r>
            <a:r>
              <a:rPr sz="1300" b="0" dirty="0">
                <a:solidFill>
                  <a:srgbClr val="52525B"/>
                </a:solidFill>
                <a:latin typeface="Inter"/>
              </a:rPr>
              <a:t>. </a:t>
            </a:r>
            <a:r>
              <a:rPr sz="1300" b="0" dirty="0" err="1">
                <a:solidFill>
                  <a:srgbClr val="52525B"/>
                </a:solidFill>
                <a:latin typeface="Inter"/>
              </a:rPr>
              <a:t>Sistem</a:t>
            </a:r>
            <a:r>
              <a:rPr sz="1300" b="0" dirty="0">
                <a:solidFill>
                  <a:srgbClr val="52525B"/>
                </a:solidFill>
                <a:latin typeface="Inter"/>
              </a:rPr>
              <a:t> vas </a:t>
            </a:r>
            <a:r>
              <a:rPr sz="1300" b="0" dirty="0" err="1">
                <a:solidFill>
                  <a:srgbClr val="52525B"/>
                </a:solidFill>
                <a:latin typeface="Inter"/>
              </a:rPr>
              <a:t>vodi</a:t>
            </a:r>
            <a:r>
              <a:rPr sz="1300" b="0" dirty="0">
                <a:solidFill>
                  <a:srgbClr val="52525B"/>
                </a:solidFill>
                <a:latin typeface="Inter"/>
              </a:rPr>
              <a:t> </a:t>
            </a:r>
            <a:r>
              <a:rPr sz="1300" b="0" dirty="0" err="1">
                <a:solidFill>
                  <a:srgbClr val="52525B"/>
                </a:solidFill>
                <a:latin typeface="Inter"/>
              </a:rPr>
              <a:t>kroz</a:t>
            </a:r>
            <a:r>
              <a:rPr sz="1300" b="0" dirty="0">
                <a:solidFill>
                  <a:srgbClr val="52525B"/>
                </a:solidFill>
                <a:latin typeface="Inter"/>
              </a:rPr>
              <a:t> </a:t>
            </a:r>
            <a:r>
              <a:rPr sz="1300" b="0" dirty="0" err="1">
                <a:solidFill>
                  <a:srgbClr val="52525B"/>
                </a:solidFill>
                <a:latin typeface="Inter"/>
              </a:rPr>
              <a:t>prvi</a:t>
            </a:r>
            <a:r>
              <a:rPr sz="1300" b="0" dirty="0">
                <a:solidFill>
                  <a:srgbClr val="52525B"/>
                </a:solidFill>
                <a:latin typeface="Inter"/>
              </a:rPr>
              <a:t> </a:t>
            </a:r>
            <a:r>
              <a:rPr sz="1300" b="0" dirty="0" err="1">
                <a:solidFill>
                  <a:srgbClr val="52525B"/>
                </a:solidFill>
                <a:latin typeface="Inter"/>
              </a:rPr>
              <a:t>proces</a:t>
            </a:r>
            <a:r>
              <a:rPr sz="1300" b="0" dirty="0">
                <a:solidFill>
                  <a:srgbClr val="52525B"/>
                </a:solidFill>
                <a:latin typeface="Inter"/>
              </a:rPr>
              <a:t> </a:t>
            </a:r>
            <a:r>
              <a:rPr sz="1300" b="0" dirty="0" err="1">
                <a:solidFill>
                  <a:srgbClr val="52525B"/>
                </a:solidFill>
                <a:latin typeface="Inter"/>
              </a:rPr>
              <a:t>strukturiranja</a:t>
            </a:r>
            <a:r>
              <a:rPr sz="1300" b="0" dirty="0">
                <a:solidFill>
                  <a:srgbClr val="52525B"/>
                </a:solidFill>
                <a:latin typeface="Inter"/>
              </a:rPr>
              <a:t> </a:t>
            </a:r>
            <a:r>
              <a:rPr sz="1300" b="0" dirty="0" err="1">
                <a:solidFill>
                  <a:srgbClr val="52525B"/>
                </a:solidFill>
                <a:latin typeface="Inter"/>
              </a:rPr>
              <a:t>nalaza</a:t>
            </a:r>
            <a:r>
              <a:rPr sz="1300" b="0" dirty="0">
                <a:solidFill>
                  <a:srgbClr val="52525B"/>
                </a:solidFill>
                <a:latin typeface="Inter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426894"/>
            <a:ext cx="5303520" cy="1367030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3564054"/>
            <a:ext cx="4955740" cy="135130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D1B2A"/>
                </a:solidFill>
                <a:latin typeface="Inter"/>
              </a:rPr>
              <a:t>Da li </a:t>
            </a:r>
            <a:r>
              <a:rPr sz="1400" b="1" dirty="0" err="1">
                <a:solidFill>
                  <a:srgbClr val="0D1B2A"/>
                </a:solidFill>
                <a:latin typeface="Inter"/>
              </a:rPr>
              <a:t>su</a:t>
            </a:r>
            <a:r>
              <a:rPr sz="1400" b="1" dirty="0">
                <a:solidFill>
                  <a:srgbClr val="0D1B2A"/>
                </a:solidFill>
                <a:latin typeface="Inter"/>
              </a:rPr>
              <a:t> </a:t>
            </a:r>
            <a:r>
              <a:rPr sz="1400" b="1" dirty="0" err="1">
                <a:solidFill>
                  <a:srgbClr val="0D1B2A"/>
                </a:solidFill>
                <a:latin typeface="Inter"/>
              </a:rPr>
              <a:t>podaci</a:t>
            </a:r>
            <a:r>
              <a:rPr sz="1400" b="1" dirty="0">
                <a:solidFill>
                  <a:srgbClr val="0D1B2A"/>
                </a:solidFill>
                <a:latin typeface="Inter"/>
              </a:rPr>
              <a:t> </a:t>
            </a:r>
            <a:r>
              <a:rPr sz="1400" b="1" dirty="0" err="1">
                <a:solidFill>
                  <a:srgbClr val="0D1B2A"/>
                </a:solidFill>
                <a:latin typeface="Inter"/>
              </a:rPr>
              <a:t>pacijenata</a:t>
            </a:r>
            <a:r>
              <a:rPr sz="1400" b="1" dirty="0">
                <a:solidFill>
                  <a:srgbClr val="0D1B2A"/>
                </a:solidFill>
                <a:latin typeface="Inter"/>
              </a:rPr>
              <a:t> </a:t>
            </a:r>
            <a:r>
              <a:rPr sz="1400" b="1" dirty="0" err="1">
                <a:solidFill>
                  <a:srgbClr val="0D1B2A"/>
                </a:solidFill>
                <a:latin typeface="Inter"/>
              </a:rPr>
              <a:t>sigurni</a:t>
            </a:r>
            <a:r>
              <a:rPr sz="1400" b="1" dirty="0">
                <a:solidFill>
                  <a:srgbClr val="0D1B2A"/>
                </a:solidFill>
                <a:latin typeface="Inter"/>
              </a:rPr>
              <a:t>?</a:t>
            </a:r>
          </a:p>
          <a:p>
            <a:pPr algn="l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</a:pPr>
            <a:r>
              <a:rPr lang="hr-HR" sz="1300" dirty="0">
                <a:solidFill>
                  <a:srgbClr val="52525B"/>
                </a:solidFill>
                <a:latin typeface="Inter"/>
              </a:rPr>
              <a:t>Da</a:t>
            </a:r>
            <a:r>
              <a:rPr sz="1300" b="0" dirty="0">
                <a:solidFill>
                  <a:srgbClr val="52525B"/>
                </a:solidFill>
                <a:latin typeface="Inter"/>
              </a:rPr>
              <a:t>. End-to-end </a:t>
            </a:r>
            <a:r>
              <a:rPr sz="1300" b="0" dirty="0" err="1">
                <a:solidFill>
                  <a:srgbClr val="52525B"/>
                </a:solidFill>
                <a:latin typeface="Inter"/>
              </a:rPr>
              <a:t>enkripcija</a:t>
            </a:r>
            <a:r>
              <a:rPr sz="1300" b="0" dirty="0">
                <a:solidFill>
                  <a:srgbClr val="52525B"/>
                </a:solidFill>
                <a:latin typeface="Inter"/>
              </a:rPr>
              <a:t>, GDPR </a:t>
            </a:r>
            <a:r>
              <a:rPr sz="1300" b="0" dirty="0" err="1">
                <a:solidFill>
                  <a:srgbClr val="52525B"/>
                </a:solidFill>
                <a:latin typeface="Inter"/>
              </a:rPr>
              <a:t>Član</a:t>
            </a:r>
            <a:r>
              <a:rPr sz="1300" b="0" dirty="0">
                <a:solidFill>
                  <a:srgbClr val="52525B"/>
                </a:solidFill>
                <a:latin typeface="Inter"/>
              </a:rPr>
              <a:t> 9. </a:t>
            </a:r>
            <a:r>
              <a:rPr sz="1300" b="0" dirty="0" err="1">
                <a:solidFill>
                  <a:srgbClr val="52525B"/>
                </a:solidFill>
                <a:latin typeface="Inter"/>
              </a:rPr>
              <a:t>Podaci</a:t>
            </a:r>
            <a:r>
              <a:rPr sz="1300" b="0" dirty="0">
                <a:solidFill>
                  <a:srgbClr val="52525B"/>
                </a:solidFill>
                <a:latin typeface="Inter"/>
              </a:rPr>
              <a:t> se ne </a:t>
            </a:r>
            <a:r>
              <a:rPr sz="1300" b="0" dirty="0" err="1">
                <a:solidFill>
                  <a:srgbClr val="52525B"/>
                </a:solidFill>
                <a:latin typeface="Inter"/>
              </a:rPr>
              <a:t>koriste</a:t>
            </a:r>
            <a:r>
              <a:rPr sz="1300" b="0" dirty="0">
                <a:solidFill>
                  <a:srgbClr val="52525B"/>
                </a:solidFill>
                <a:latin typeface="Inter"/>
              </a:rPr>
              <a:t> za </a:t>
            </a:r>
            <a:r>
              <a:rPr sz="1300" b="0" dirty="0" err="1">
                <a:solidFill>
                  <a:srgbClr val="52525B"/>
                </a:solidFill>
                <a:latin typeface="Inter"/>
              </a:rPr>
              <a:t>treniranje</a:t>
            </a:r>
            <a:r>
              <a:rPr sz="1300" b="0" dirty="0">
                <a:solidFill>
                  <a:srgbClr val="52525B"/>
                </a:solidFill>
                <a:latin typeface="Inter"/>
              </a:rPr>
              <a:t> </a:t>
            </a:r>
            <a:r>
              <a:rPr sz="1300" b="0" dirty="0" err="1">
                <a:solidFill>
                  <a:srgbClr val="52525B"/>
                </a:solidFill>
                <a:latin typeface="Inter"/>
              </a:rPr>
              <a:t>javnih</a:t>
            </a:r>
            <a:r>
              <a:rPr sz="1300" b="0" dirty="0">
                <a:solidFill>
                  <a:srgbClr val="52525B"/>
                </a:solidFill>
                <a:latin typeface="Inter"/>
              </a:rPr>
              <a:t> </a:t>
            </a:r>
            <a:r>
              <a:rPr sz="1300" b="0" dirty="0" err="1">
                <a:solidFill>
                  <a:srgbClr val="52525B"/>
                </a:solidFill>
                <a:latin typeface="Inter"/>
              </a:rPr>
              <a:t>modela</a:t>
            </a:r>
            <a:r>
              <a:rPr sz="1300" b="0" dirty="0">
                <a:solidFill>
                  <a:srgbClr val="52525B"/>
                </a:solidFill>
                <a:latin typeface="Inter"/>
              </a:rPr>
              <a:t>. </a:t>
            </a:r>
            <a:r>
              <a:rPr lang="hr-HR" sz="1300" dirty="0">
                <a:solidFill>
                  <a:srgbClr val="52525B"/>
                </a:solidFill>
                <a:latin typeface="Inter"/>
              </a:rPr>
              <a:t>N</a:t>
            </a:r>
            <a:r>
              <a:rPr sz="1300" b="0" dirty="0" err="1">
                <a:solidFill>
                  <a:srgbClr val="52525B"/>
                </a:solidFill>
                <a:latin typeface="Inter"/>
              </a:rPr>
              <a:t>alazi</a:t>
            </a:r>
            <a:r>
              <a:rPr sz="1300" b="0" dirty="0">
                <a:solidFill>
                  <a:srgbClr val="52525B"/>
                </a:solidFill>
                <a:latin typeface="Inter"/>
              </a:rPr>
              <a:t> </a:t>
            </a:r>
            <a:r>
              <a:rPr sz="1300" b="0" dirty="0" err="1">
                <a:solidFill>
                  <a:srgbClr val="52525B"/>
                </a:solidFill>
                <a:latin typeface="Inter"/>
              </a:rPr>
              <a:t>pripadaju</a:t>
            </a:r>
            <a:r>
              <a:rPr sz="1300" b="0" dirty="0">
                <a:solidFill>
                  <a:srgbClr val="52525B"/>
                </a:solidFill>
                <a:latin typeface="Inter"/>
              </a:rPr>
              <a:t> </a:t>
            </a:r>
            <a:r>
              <a:rPr sz="1300" b="0" dirty="0" err="1">
                <a:solidFill>
                  <a:srgbClr val="52525B"/>
                </a:solidFill>
                <a:latin typeface="Inter"/>
              </a:rPr>
              <a:t>isključivo</a:t>
            </a:r>
            <a:r>
              <a:rPr sz="1300" b="0" dirty="0">
                <a:solidFill>
                  <a:srgbClr val="52525B"/>
                </a:solidFill>
                <a:latin typeface="Inter"/>
              </a:rPr>
              <a:t> </a:t>
            </a:r>
            <a:r>
              <a:rPr sz="1300" b="0" dirty="0" err="1">
                <a:solidFill>
                  <a:srgbClr val="52525B"/>
                </a:solidFill>
                <a:latin typeface="Inter"/>
              </a:rPr>
              <a:t>vama</a:t>
            </a:r>
            <a:r>
              <a:rPr sz="1300" b="0" dirty="0">
                <a:solidFill>
                  <a:srgbClr val="52525B"/>
                </a:solidFill>
                <a:latin typeface="Inter"/>
              </a:rPr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924251"/>
            <a:ext cx="5303520" cy="1367029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5061412"/>
            <a:ext cx="484632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 err="1">
                <a:solidFill>
                  <a:srgbClr val="0D1B2A"/>
                </a:solidFill>
                <a:latin typeface="Inter"/>
              </a:rPr>
              <a:t>Trebam</a:t>
            </a:r>
            <a:r>
              <a:rPr sz="1400" b="1" dirty="0">
                <a:solidFill>
                  <a:srgbClr val="0D1B2A"/>
                </a:solidFill>
                <a:latin typeface="Inter"/>
              </a:rPr>
              <a:t> li </a:t>
            </a:r>
            <a:r>
              <a:rPr sz="1400" b="1" dirty="0" err="1">
                <a:solidFill>
                  <a:srgbClr val="0D1B2A"/>
                </a:solidFill>
                <a:latin typeface="Inter"/>
              </a:rPr>
              <a:t>kupovati</a:t>
            </a:r>
            <a:r>
              <a:rPr sz="1400" b="1" dirty="0">
                <a:solidFill>
                  <a:srgbClr val="0D1B2A"/>
                </a:solidFill>
                <a:latin typeface="Inter"/>
              </a:rPr>
              <a:t> </a:t>
            </a:r>
            <a:r>
              <a:rPr sz="1400" b="1" dirty="0" err="1">
                <a:solidFill>
                  <a:srgbClr val="0D1B2A"/>
                </a:solidFill>
                <a:latin typeface="Inter"/>
              </a:rPr>
              <a:t>posebnu</a:t>
            </a:r>
            <a:r>
              <a:rPr sz="1400" b="1" dirty="0">
                <a:solidFill>
                  <a:srgbClr val="0D1B2A"/>
                </a:solidFill>
                <a:latin typeface="Inter"/>
              </a:rPr>
              <a:t> </a:t>
            </a:r>
            <a:r>
              <a:rPr sz="1400" b="1" dirty="0" err="1">
                <a:solidFill>
                  <a:srgbClr val="0D1B2A"/>
                </a:solidFill>
                <a:latin typeface="Inter"/>
              </a:rPr>
              <a:t>opremu</a:t>
            </a:r>
            <a:r>
              <a:rPr sz="1400" b="1" dirty="0">
                <a:solidFill>
                  <a:srgbClr val="0D1B2A"/>
                </a:solidFill>
                <a:latin typeface="Inter"/>
              </a:rPr>
              <a:t>?</a:t>
            </a:r>
          </a:p>
          <a:p>
            <a:pPr algn="l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</a:pPr>
            <a:r>
              <a:rPr sz="1300" b="0" dirty="0">
                <a:solidFill>
                  <a:srgbClr val="52525B"/>
                </a:solidFill>
                <a:latin typeface="Inter"/>
              </a:rPr>
              <a:t>Ne. </a:t>
            </a:r>
            <a:r>
              <a:rPr sz="1300" b="0" dirty="0" err="1">
                <a:solidFill>
                  <a:srgbClr val="52525B"/>
                </a:solidFill>
                <a:latin typeface="Inter"/>
              </a:rPr>
              <a:t>Mikrofon</a:t>
            </a:r>
            <a:r>
              <a:rPr sz="1300" b="0" dirty="0">
                <a:solidFill>
                  <a:srgbClr val="52525B"/>
                </a:solidFill>
                <a:latin typeface="Inter"/>
              </a:rPr>
              <a:t> </a:t>
            </a:r>
            <a:r>
              <a:rPr sz="1300" b="0" dirty="0" err="1">
                <a:solidFill>
                  <a:srgbClr val="52525B"/>
                </a:solidFill>
                <a:latin typeface="Inter"/>
              </a:rPr>
              <a:t>laptopa</a:t>
            </a:r>
            <a:r>
              <a:rPr sz="1300" b="0" dirty="0">
                <a:solidFill>
                  <a:srgbClr val="52525B"/>
                </a:solidFill>
                <a:latin typeface="Inter"/>
              </a:rPr>
              <a:t>, </a:t>
            </a:r>
            <a:r>
              <a:rPr sz="1300" b="0" dirty="0" err="1">
                <a:solidFill>
                  <a:srgbClr val="52525B"/>
                </a:solidFill>
                <a:latin typeface="Inter"/>
              </a:rPr>
              <a:t>slušalice</a:t>
            </a:r>
            <a:r>
              <a:rPr sz="1300" b="0" dirty="0">
                <a:solidFill>
                  <a:srgbClr val="52525B"/>
                </a:solidFill>
                <a:latin typeface="Inter"/>
              </a:rPr>
              <a:t> od </a:t>
            </a:r>
            <a:r>
              <a:rPr sz="1300" b="0" dirty="0" err="1">
                <a:solidFill>
                  <a:srgbClr val="52525B"/>
                </a:solidFill>
                <a:latin typeface="Inter"/>
              </a:rPr>
              <a:t>telefona</a:t>
            </a:r>
            <a:r>
              <a:rPr sz="1300" b="0" dirty="0">
                <a:solidFill>
                  <a:srgbClr val="52525B"/>
                </a:solidFill>
                <a:latin typeface="Inter"/>
              </a:rPr>
              <a:t> </a:t>
            </a:r>
            <a:r>
              <a:rPr sz="1300" b="0" dirty="0" err="1">
                <a:solidFill>
                  <a:srgbClr val="52525B"/>
                </a:solidFill>
                <a:latin typeface="Inter"/>
              </a:rPr>
              <a:t>ili</a:t>
            </a:r>
            <a:r>
              <a:rPr sz="1300" b="0" dirty="0">
                <a:solidFill>
                  <a:srgbClr val="52525B"/>
                </a:solidFill>
                <a:latin typeface="Inter"/>
              </a:rPr>
              <a:t> </a:t>
            </a:r>
            <a:r>
              <a:rPr sz="1300" b="0" dirty="0" err="1">
                <a:solidFill>
                  <a:srgbClr val="52525B"/>
                </a:solidFill>
                <a:latin typeface="Inter"/>
              </a:rPr>
              <a:t>pametni</a:t>
            </a:r>
            <a:r>
              <a:rPr sz="1300" b="0" dirty="0">
                <a:solidFill>
                  <a:srgbClr val="52525B"/>
                </a:solidFill>
                <a:latin typeface="Inter"/>
              </a:rPr>
              <a:t> </a:t>
            </a:r>
            <a:r>
              <a:rPr sz="1300" b="0" dirty="0" err="1">
                <a:solidFill>
                  <a:srgbClr val="52525B"/>
                </a:solidFill>
                <a:latin typeface="Inter"/>
              </a:rPr>
              <a:t>telefon</a:t>
            </a:r>
            <a:r>
              <a:rPr sz="1300" b="0" dirty="0">
                <a:solidFill>
                  <a:srgbClr val="52525B"/>
                </a:solidFill>
                <a:latin typeface="Inter"/>
              </a:rPr>
              <a:t>. </a:t>
            </a:r>
            <a:r>
              <a:rPr sz="1300" b="0" dirty="0" err="1">
                <a:solidFill>
                  <a:srgbClr val="52525B"/>
                </a:solidFill>
                <a:latin typeface="Inter"/>
              </a:rPr>
              <a:t>Vaš</a:t>
            </a:r>
            <a:r>
              <a:rPr sz="1300" b="0" dirty="0">
                <a:solidFill>
                  <a:srgbClr val="52525B"/>
                </a:solidFill>
                <a:latin typeface="Inter"/>
              </a:rPr>
              <a:t> </a:t>
            </a:r>
            <a:r>
              <a:rPr sz="1300" b="0" dirty="0" err="1">
                <a:solidFill>
                  <a:srgbClr val="52525B"/>
                </a:solidFill>
                <a:latin typeface="Inter"/>
              </a:rPr>
              <a:t>sadašnji</a:t>
            </a:r>
            <a:r>
              <a:rPr sz="1300" b="0" dirty="0">
                <a:solidFill>
                  <a:srgbClr val="52525B"/>
                </a:solidFill>
                <a:latin typeface="Inter"/>
              </a:rPr>
              <a:t> </a:t>
            </a:r>
            <a:r>
              <a:rPr sz="1300" b="0" dirty="0" err="1">
                <a:solidFill>
                  <a:srgbClr val="52525B"/>
                </a:solidFill>
                <a:latin typeface="Inter"/>
              </a:rPr>
              <a:t>uređaj</a:t>
            </a:r>
            <a:r>
              <a:rPr sz="1300" b="0" dirty="0">
                <a:solidFill>
                  <a:srgbClr val="52525B"/>
                </a:solidFill>
                <a:latin typeface="Inter"/>
              </a:rPr>
              <a:t> je </a:t>
            </a:r>
            <a:r>
              <a:rPr sz="1300" b="0" dirty="0" err="1">
                <a:solidFill>
                  <a:srgbClr val="52525B"/>
                </a:solidFill>
                <a:latin typeface="Inter"/>
              </a:rPr>
              <a:t>sve</a:t>
            </a:r>
            <a:r>
              <a:rPr sz="1300" b="0" dirty="0">
                <a:solidFill>
                  <a:srgbClr val="52525B"/>
                </a:solidFill>
                <a:latin typeface="Inter"/>
              </a:rPr>
              <a:t> </a:t>
            </a:r>
            <a:r>
              <a:rPr sz="1300" b="0" dirty="0" err="1">
                <a:solidFill>
                  <a:srgbClr val="52525B"/>
                </a:solidFill>
                <a:latin typeface="Inter"/>
              </a:rPr>
              <a:t>što</a:t>
            </a:r>
            <a:r>
              <a:rPr sz="1300" b="0" dirty="0">
                <a:solidFill>
                  <a:srgbClr val="52525B"/>
                </a:solidFill>
                <a:latin typeface="Inter"/>
              </a:rPr>
              <a:t> </a:t>
            </a:r>
            <a:r>
              <a:rPr sz="1300" b="0" dirty="0" err="1">
                <a:solidFill>
                  <a:srgbClr val="52525B"/>
                </a:solidFill>
                <a:latin typeface="Inter"/>
              </a:rPr>
              <a:t>vam</a:t>
            </a:r>
            <a:r>
              <a:rPr sz="1300" b="0" dirty="0">
                <a:solidFill>
                  <a:srgbClr val="52525B"/>
                </a:solidFill>
                <a:latin typeface="Inter"/>
              </a:rPr>
              <a:t> </a:t>
            </a:r>
            <a:r>
              <a:rPr sz="1300" b="0" dirty="0" err="1">
                <a:solidFill>
                  <a:srgbClr val="52525B"/>
                </a:solidFill>
                <a:latin typeface="Inter"/>
              </a:rPr>
              <a:t>treba</a:t>
            </a:r>
            <a:r>
              <a:rPr sz="1300" b="0" dirty="0">
                <a:solidFill>
                  <a:srgbClr val="52525B"/>
                </a:solidFill>
                <a:latin typeface="Inter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924251"/>
            <a:ext cx="5303520" cy="1367029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37960" y="5061412"/>
            <a:ext cx="484632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D1B2A"/>
                </a:solidFill>
                <a:latin typeface="Inter"/>
              </a:rPr>
              <a:t>Koliko </a:t>
            </a:r>
            <a:r>
              <a:rPr sz="1400" b="1" dirty="0" err="1">
                <a:solidFill>
                  <a:srgbClr val="0D1B2A"/>
                </a:solidFill>
                <a:latin typeface="Inter"/>
              </a:rPr>
              <a:t>traje</a:t>
            </a:r>
            <a:r>
              <a:rPr sz="1400" b="1" dirty="0">
                <a:solidFill>
                  <a:srgbClr val="0D1B2A"/>
                </a:solidFill>
                <a:latin typeface="Inter"/>
              </a:rPr>
              <a:t> </a:t>
            </a:r>
            <a:r>
              <a:rPr sz="1400" b="1" dirty="0" err="1">
                <a:solidFill>
                  <a:srgbClr val="0D1B2A"/>
                </a:solidFill>
                <a:latin typeface="Inter"/>
              </a:rPr>
              <a:t>obuka</a:t>
            </a:r>
            <a:r>
              <a:rPr sz="1400" b="1" dirty="0">
                <a:solidFill>
                  <a:srgbClr val="0D1B2A"/>
                </a:solidFill>
                <a:latin typeface="Inter"/>
              </a:rPr>
              <a:t>?</a:t>
            </a:r>
          </a:p>
          <a:p>
            <a:pPr algn="l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</a:pPr>
            <a:r>
              <a:rPr sz="1300" b="0" dirty="0">
                <a:solidFill>
                  <a:srgbClr val="52525B"/>
                </a:solidFill>
                <a:latin typeface="Inter"/>
              </a:rPr>
              <a:t>Manje od 5 </a:t>
            </a:r>
            <a:r>
              <a:rPr sz="1300" b="0" dirty="0" err="1">
                <a:solidFill>
                  <a:srgbClr val="52525B"/>
                </a:solidFill>
                <a:latin typeface="Inter"/>
              </a:rPr>
              <a:t>minuta</a:t>
            </a:r>
            <a:r>
              <a:rPr sz="1300" b="0" dirty="0">
                <a:solidFill>
                  <a:srgbClr val="52525B"/>
                </a:solidFill>
                <a:latin typeface="Inter"/>
              </a:rPr>
              <a:t>. </a:t>
            </a:r>
            <a:r>
              <a:rPr sz="1300" b="0" dirty="0" err="1">
                <a:solidFill>
                  <a:srgbClr val="52525B"/>
                </a:solidFill>
                <a:latin typeface="Inter"/>
              </a:rPr>
              <a:t>Interfejs</a:t>
            </a:r>
            <a:r>
              <a:rPr sz="1300" b="0" dirty="0">
                <a:solidFill>
                  <a:srgbClr val="52525B"/>
                </a:solidFill>
                <a:latin typeface="Inter"/>
              </a:rPr>
              <a:t> je </a:t>
            </a:r>
            <a:r>
              <a:rPr sz="1300" b="0" dirty="0" err="1">
                <a:solidFill>
                  <a:srgbClr val="52525B"/>
                </a:solidFill>
                <a:latin typeface="Inter"/>
              </a:rPr>
              <a:t>intuitivan</a:t>
            </a:r>
            <a:r>
              <a:rPr sz="1300" b="0" dirty="0">
                <a:solidFill>
                  <a:srgbClr val="52525B"/>
                </a:solidFill>
                <a:latin typeface="Inter"/>
              </a:rPr>
              <a:t> </a:t>
            </a:r>
            <a:r>
              <a:rPr sz="1300" b="0" dirty="0" err="1">
                <a:solidFill>
                  <a:srgbClr val="52525B"/>
                </a:solidFill>
                <a:latin typeface="Inter"/>
              </a:rPr>
              <a:t>čak</a:t>
            </a:r>
            <a:r>
              <a:rPr sz="1300" b="0" dirty="0">
                <a:solidFill>
                  <a:srgbClr val="52525B"/>
                </a:solidFill>
                <a:latin typeface="Inter"/>
              </a:rPr>
              <a:t> </a:t>
            </a:r>
            <a:r>
              <a:rPr sz="1300" b="0" dirty="0" err="1">
                <a:solidFill>
                  <a:srgbClr val="52525B"/>
                </a:solidFill>
                <a:latin typeface="Inter"/>
              </a:rPr>
              <a:t>i</a:t>
            </a:r>
            <a:r>
              <a:rPr sz="1300" b="0" dirty="0">
                <a:solidFill>
                  <a:srgbClr val="52525B"/>
                </a:solidFill>
                <a:latin typeface="Inter"/>
              </a:rPr>
              <a:t> za </a:t>
            </a:r>
            <a:r>
              <a:rPr sz="1300" b="0" dirty="0" err="1">
                <a:solidFill>
                  <a:srgbClr val="52525B"/>
                </a:solidFill>
                <a:latin typeface="Inter"/>
              </a:rPr>
              <a:t>ljekare</a:t>
            </a:r>
            <a:r>
              <a:rPr sz="1300" b="0" dirty="0">
                <a:solidFill>
                  <a:srgbClr val="52525B"/>
                </a:solidFill>
                <a:latin typeface="Inter"/>
              </a:rPr>
              <a:t> koji </a:t>
            </a:r>
            <a:r>
              <a:rPr sz="1300" b="0" dirty="0" err="1">
                <a:solidFill>
                  <a:srgbClr val="52525B"/>
                </a:solidFill>
                <a:latin typeface="Inter"/>
              </a:rPr>
              <a:t>nisu</a:t>
            </a:r>
            <a:r>
              <a:rPr sz="1300" b="0" dirty="0">
                <a:solidFill>
                  <a:srgbClr val="52525B"/>
                </a:solidFill>
                <a:latin typeface="Inter"/>
              </a:rPr>
              <a:t> </a:t>
            </a:r>
            <a:r>
              <a:rPr sz="1300" b="0" dirty="0" err="1">
                <a:solidFill>
                  <a:srgbClr val="52525B"/>
                </a:solidFill>
                <a:latin typeface="Inter"/>
              </a:rPr>
              <a:t>tehnički</a:t>
            </a:r>
            <a:r>
              <a:rPr sz="1300" b="0" dirty="0">
                <a:solidFill>
                  <a:srgbClr val="52525B"/>
                </a:solidFill>
                <a:latin typeface="Inter"/>
              </a:rPr>
              <a:t> </a:t>
            </a:r>
            <a:r>
              <a:rPr sz="1300" b="0" dirty="0" err="1">
                <a:solidFill>
                  <a:srgbClr val="52525B"/>
                </a:solidFill>
                <a:latin typeface="Inter"/>
              </a:rPr>
              <a:t>potkovani</a:t>
            </a:r>
            <a:r>
              <a:rPr sz="1300" b="0" dirty="0">
                <a:solidFill>
                  <a:srgbClr val="52525B"/>
                </a:solidFill>
                <a:latin typeface="Inter"/>
              </a:rPr>
              <a:t>. Za </a:t>
            </a:r>
            <a:r>
              <a:rPr sz="1300" b="0" dirty="0" err="1">
                <a:solidFill>
                  <a:srgbClr val="52525B"/>
                </a:solidFill>
                <a:latin typeface="Inter"/>
              </a:rPr>
              <a:t>klinike</a:t>
            </a:r>
            <a:r>
              <a:rPr lang="hr-HR" sz="1300" b="0" dirty="0">
                <a:solidFill>
                  <a:srgbClr val="52525B"/>
                </a:solidFill>
                <a:latin typeface="Inter"/>
              </a:rPr>
              <a:t>: </a:t>
            </a:r>
            <a:r>
              <a:rPr sz="1300" b="0" dirty="0" err="1">
                <a:solidFill>
                  <a:srgbClr val="52525B"/>
                </a:solidFill>
                <a:latin typeface="Inter"/>
              </a:rPr>
              <a:t>demonstracija</a:t>
            </a:r>
            <a:r>
              <a:rPr sz="1300" b="0" dirty="0">
                <a:solidFill>
                  <a:srgbClr val="52525B"/>
                </a:solidFill>
                <a:latin typeface="Inter"/>
              </a:rPr>
              <a:t> za </a:t>
            </a:r>
            <a:r>
              <a:rPr sz="1300" b="0" dirty="0" err="1">
                <a:solidFill>
                  <a:srgbClr val="52525B"/>
                </a:solidFill>
                <a:latin typeface="Inter"/>
              </a:rPr>
              <a:t>tim.</a:t>
            </a:r>
            <a:endParaRPr sz="1300" b="0" dirty="0">
              <a:solidFill>
                <a:srgbClr val="52525B"/>
              </a:solidFill>
              <a:latin typeface="Inter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309360" y="2034695"/>
            <a:ext cx="5303520" cy="1261871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37960" y="2171856"/>
            <a:ext cx="484632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D1B2A"/>
                </a:solidFill>
                <a:latin typeface="Inter"/>
              </a:rPr>
              <a:t>Koliko </a:t>
            </a:r>
            <a:r>
              <a:rPr sz="1400" b="1" dirty="0" err="1">
                <a:solidFill>
                  <a:srgbClr val="0D1B2A"/>
                </a:solidFill>
                <a:latin typeface="Inter"/>
              </a:rPr>
              <a:t>traje</a:t>
            </a:r>
            <a:r>
              <a:rPr sz="1400" b="1" dirty="0">
                <a:solidFill>
                  <a:srgbClr val="0D1B2A"/>
                </a:solidFill>
                <a:latin typeface="Inter"/>
              </a:rPr>
              <a:t> </a:t>
            </a:r>
            <a:r>
              <a:rPr sz="1400" b="1" dirty="0" err="1">
                <a:solidFill>
                  <a:srgbClr val="0D1B2A"/>
                </a:solidFill>
                <a:latin typeface="Inter"/>
              </a:rPr>
              <a:t>postavljanje</a:t>
            </a:r>
            <a:r>
              <a:rPr sz="1400" b="1" dirty="0">
                <a:solidFill>
                  <a:srgbClr val="0D1B2A"/>
                </a:solidFill>
                <a:latin typeface="Inter"/>
              </a:rPr>
              <a:t> </a:t>
            </a:r>
            <a:r>
              <a:rPr sz="1400" b="1" dirty="0" err="1">
                <a:solidFill>
                  <a:srgbClr val="0D1B2A"/>
                </a:solidFill>
                <a:latin typeface="Inter"/>
              </a:rPr>
              <a:t>sistema</a:t>
            </a:r>
            <a:r>
              <a:rPr sz="1400" b="1" dirty="0">
                <a:solidFill>
                  <a:srgbClr val="0D1B2A"/>
                </a:solidFill>
                <a:latin typeface="Inter"/>
              </a:rPr>
              <a:t>?</a:t>
            </a:r>
          </a:p>
          <a:p>
            <a:pPr algn="l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</a:pPr>
            <a:r>
              <a:rPr sz="1300" b="0" dirty="0">
                <a:solidFill>
                  <a:srgbClr val="52525B"/>
                </a:solidFill>
                <a:latin typeface="Inter"/>
              </a:rPr>
              <a:t>Nula </a:t>
            </a:r>
            <a:r>
              <a:rPr sz="1300" b="0" dirty="0" err="1">
                <a:solidFill>
                  <a:srgbClr val="52525B"/>
                </a:solidFill>
                <a:latin typeface="Inter"/>
              </a:rPr>
              <a:t>instalacije</a:t>
            </a:r>
            <a:r>
              <a:rPr sz="1300" b="0" dirty="0">
                <a:solidFill>
                  <a:srgbClr val="52525B"/>
                </a:solidFill>
                <a:latin typeface="Inter"/>
              </a:rPr>
              <a:t>. </a:t>
            </a:r>
            <a:r>
              <a:rPr sz="1300" b="0" dirty="0" err="1">
                <a:solidFill>
                  <a:srgbClr val="52525B"/>
                </a:solidFill>
                <a:latin typeface="Inter"/>
              </a:rPr>
              <a:t>Nakon</a:t>
            </a:r>
            <a:r>
              <a:rPr sz="1300" b="0" dirty="0">
                <a:solidFill>
                  <a:srgbClr val="52525B"/>
                </a:solidFill>
                <a:latin typeface="Inter"/>
              </a:rPr>
              <a:t> </a:t>
            </a:r>
            <a:r>
              <a:rPr sz="1300" b="0" dirty="0" err="1">
                <a:solidFill>
                  <a:srgbClr val="52525B"/>
                </a:solidFill>
                <a:latin typeface="Inter"/>
              </a:rPr>
              <a:t>profila</a:t>
            </a:r>
            <a:r>
              <a:rPr sz="1300" b="0" dirty="0">
                <a:solidFill>
                  <a:srgbClr val="52525B"/>
                </a:solidFill>
                <a:latin typeface="Inter"/>
              </a:rPr>
              <a:t>, </a:t>
            </a:r>
            <a:r>
              <a:rPr sz="1300" b="0" dirty="0" err="1">
                <a:solidFill>
                  <a:srgbClr val="52525B"/>
                </a:solidFill>
                <a:latin typeface="Inter"/>
              </a:rPr>
              <a:t>prvi</a:t>
            </a:r>
            <a:r>
              <a:rPr sz="1300" b="0" dirty="0">
                <a:solidFill>
                  <a:srgbClr val="52525B"/>
                </a:solidFill>
                <a:latin typeface="Inter"/>
              </a:rPr>
              <a:t> diktat za </a:t>
            </a:r>
            <a:r>
              <a:rPr sz="1300" b="0" dirty="0" err="1">
                <a:solidFill>
                  <a:srgbClr val="52525B"/>
                </a:solidFill>
                <a:latin typeface="Inter"/>
              </a:rPr>
              <a:t>manje</a:t>
            </a:r>
            <a:r>
              <a:rPr sz="1300" b="0" dirty="0">
                <a:solidFill>
                  <a:srgbClr val="52525B"/>
                </a:solidFill>
                <a:latin typeface="Inter"/>
              </a:rPr>
              <a:t> od 60 </a:t>
            </a:r>
            <a:r>
              <a:rPr sz="1300" b="0" dirty="0" err="1">
                <a:solidFill>
                  <a:srgbClr val="52525B"/>
                </a:solidFill>
                <a:latin typeface="Inter"/>
              </a:rPr>
              <a:t>sekundi</a:t>
            </a:r>
            <a:r>
              <a:rPr sz="1300" b="0" dirty="0">
                <a:solidFill>
                  <a:srgbClr val="52525B"/>
                </a:solidFill>
                <a:latin typeface="Inter"/>
              </a:rPr>
              <a:t>. </a:t>
            </a:r>
            <a:r>
              <a:rPr sz="1300" b="0" dirty="0" err="1">
                <a:solidFill>
                  <a:srgbClr val="52525B"/>
                </a:solidFill>
                <a:latin typeface="Inter"/>
              </a:rPr>
              <a:t>Radi</a:t>
            </a:r>
            <a:r>
              <a:rPr sz="1300" b="0" dirty="0">
                <a:solidFill>
                  <a:srgbClr val="52525B"/>
                </a:solidFill>
                <a:latin typeface="Inter"/>
              </a:rPr>
              <a:t> </a:t>
            </a:r>
            <a:r>
              <a:rPr sz="1300" b="0" dirty="0" err="1">
                <a:solidFill>
                  <a:srgbClr val="52525B"/>
                </a:solidFill>
                <a:latin typeface="Inter"/>
              </a:rPr>
              <a:t>odmah</a:t>
            </a:r>
            <a:r>
              <a:rPr sz="1300" b="0" dirty="0">
                <a:solidFill>
                  <a:srgbClr val="52525B"/>
                </a:solidFill>
                <a:latin typeface="Inter"/>
              </a:rPr>
              <a:t> u Chrome, Edge, Safari</a:t>
            </a:r>
            <a:r>
              <a:rPr lang="hr-HR" sz="1300" b="0" dirty="0">
                <a:solidFill>
                  <a:srgbClr val="52525B"/>
                </a:solidFill>
                <a:latin typeface="Inter"/>
              </a:rPr>
              <a:t> i sl</a:t>
            </a:r>
            <a:r>
              <a:rPr lang="hr-HR" sz="1300" dirty="0">
                <a:solidFill>
                  <a:srgbClr val="52525B"/>
                </a:solidFill>
                <a:latin typeface="Inter"/>
              </a:rPr>
              <a:t>.</a:t>
            </a:r>
            <a:endParaRPr sz="1300" b="0" dirty="0">
              <a:solidFill>
                <a:srgbClr val="52525B"/>
              </a:solidFill>
              <a:latin typeface="Inter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309360" y="3426894"/>
            <a:ext cx="5303520" cy="1367029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37960" y="3564054"/>
            <a:ext cx="484632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 err="1">
                <a:solidFill>
                  <a:srgbClr val="0D1B2A"/>
                </a:solidFill>
                <a:latin typeface="Inter"/>
              </a:rPr>
              <a:t>Mogu</a:t>
            </a:r>
            <a:r>
              <a:rPr sz="1400" b="1" dirty="0">
                <a:solidFill>
                  <a:srgbClr val="0D1B2A"/>
                </a:solidFill>
                <a:latin typeface="Inter"/>
              </a:rPr>
              <a:t> li </a:t>
            </a:r>
            <a:r>
              <a:rPr sz="1400" b="1" dirty="0" err="1">
                <a:solidFill>
                  <a:srgbClr val="0D1B2A"/>
                </a:solidFill>
                <a:latin typeface="Inter"/>
              </a:rPr>
              <a:t>koristiti</a:t>
            </a:r>
            <a:r>
              <a:rPr sz="1400" b="1" dirty="0">
                <a:solidFill>
                  <a:srgbClr val="0D1B2A"/>
                </a:solidFill>
                <a:latin typeface="Inter"/>
              </a:rPr>
              <a:t> </a:t>
            </a:r>
            <a:r>
              <a:rPr lang="hr-HR" sz="1400" b="1" dirty="0">
                <a:solidFill>
                  <a:srgbClr val="0D1B2A"/>
                </a:solidFill>
                <a:latin typeface="Inter"/>
              </a:rPr>
              <a:t>svoj</a:t>
            </a:r>
            <a:r>
              <a:rPr sz="1400" b="1" dirty="0">
                <a:solidFill>
                  <a:srgbClr val="0D1B2A"/>
                </a:solidFill>
                <a:latin typeface="Inter"/>
              </a:rPr>
              <a:t> </a:t>
            </a:r>
            <a:r>
              <a:rPr lang="hr-HR" sz="1400" b="1" dirty="0">
                <a:solidFill>
                  <a:srgbClr val="0D1B2A"/>
                </a:solidFill>
                <a:latin typeface="Inter"/>
              </a:rPr>
              <a:t>logo i </a:t>
            </a:r>
            <a:r>
              <a:rPr lang="hr-HR" sz="1400" b="1" dirty="0" err="1">
                <a:solidFill>
                  <a:srgbClr val="0D1B2A"/>
                </a:solidFill>
                <a:latin typeface="Inter"/>
              </a:rPr>
              <a:t>branding</a:t>
            </a:r>
            <a:r>
              <a:rPr sz="1400" b="1" dirty="0">
                <a:solidFill>
                  <a:srgbClr val="0D1B2A"/>
                </a:solidFill>
                <a:latin typeface="Inter"/>
              </a:rPr>
              <a:t>?</a:t>
            </a:r>
          </a:p>
          <a:p>
            <a:pPr algn="l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</a:pPr>
            <a:r>
              <a:rPr sz="1300" b="0" dirty="0">
                <a:solidFill>
                  <a:srgbClr val="52525B"/>
                </a:solidFill>
                <a:latin typeface="Inter"/>
              </a:rPr>
              <a:t>Da. </a:t>
            </a:r>
            <a:r>
              <a:rPr lang="hr-HR" sz="1300" b="0" dirty="0">
                <a:solidFill>
                  <a:srgbClr val="52525B"/>
                </a:solidFill>
                <a:latin typeface="Inter"/>
              </a:rPr>
              <a:t>U</a:t>
            </a:r>
            <a:r>
              <a:rPr sz="1300" b="0" dirty="0">
                <a:solidFill>
                  <a:srgbClr val="52525B"/>
                </a:solidFill>
                <a:latin typeface="Inter"/>
              </a:rPr>
              <a:t> </a:t>
            </a:r>
            <a:r>
              <a:rPr lang="hr-HR" sz="1300" b="0" dirty="0">
                <a:solidFill>
                  <a:srgbClr val="52525B"/>
                </a:solidFill>
                <a:latin typeface="Inter"/>
              </a:rPr>
              <a:t>postavkama postavite Vaš logo, potpis, pečat i podatke o ordinaciji/klinici, a </a:t>
            </a:r>
            <a:r>
              <a:rPr lang="hr-HR" sz="1300" b="0" dirty="0" err="1">
                <a:solidFill>
                  <a:srgbClr val="52525B"/>
                </a:solidFill>
                <a:latin typeface="Inter"/>
              </a:rPr>
              <a:t>AiMED</a:t>
            </a:r>
            <a:r>
              <a:rPr lang="hr-HR" sz="1300" b="0" dirty="0">
                <a:solidFill>
                  <a:srgbClr val="52525B"/>
                </a:solidFill>
                <a:latin typeface="Inter"/>
              </a:rPr>
              <a:t> će ih usvojiti.</a:t>
            </a:r>
            <a:endParaRPr sz="1300" b="0" dirty="0">
              <a:solidFill>
                <a:srgbClr val="52525B"/>
              </a:solidFill>
              <a:latin typeface="Inter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548640" y="6464808"/>
            <a:ext cx="11094415" cy="256032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640" y="6464808"/>
            <a:ext cx="11094415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dirty="0" err="1">
                <a:solidFill>
                  <a:srgbClr val="52525B"/>
                </a:solidFill>
                <a:latin typeface="Inter"/>
              </a:rPr>
              <a:t>Imate</a:t>
            </a:r>
            <a:r>
              <a:rPr sz="1100" b="0" dirty="0">
                <a:solidFill>
                  <a:srgbClr val="52525B"/>
                </a:solidFill>
                <a:latin typeface="Inter"/>
              </a:rPr>
              <a:t> </a:t>
            </a:r>
            <a:r>
              <a:rPr sz="1100" b="0" dirty="0" err="1">
                <a:solidFill>
                  <a:srgbClr val="52525B"/>
                </a:solidFill>
                <a:latin typeface="Inter"/>
              </a:rPr>
              <a:t>još</a:t>
            </a:r>
            <a:r>
              <a:rPr sz="1100" b="0" dirty="0">
                <a:solidFill>
                  <a:srgbClr val="52525B"/>
                </a:solidFill>
                <a:latin typeface="Inter"/>
              </a:rPr>
              <a:t> </a:t>
            </a:r>
            <a:r>
              <a:rPr sz="1100" b="0" dirty="0" err="1">
                <a:solidFill>
                  <a:srgbClr val="52525B"/>
                </a:solidFill>
                <a:latin typeface="Inter"/>
              </a:rPr>
              <a:t>pitanja</a:t>
            </a:r>
            <a:r>
              <a:rPr sz="1100" b="0" dirty="0">
                <a:solidFill>
                  <a:srgbClr val="52525B"/>
                </a:solidFill>
                <a:latin typeface="Inter"/>
              </a:rPr>
              <a:t>? </a:t>
            </a:r>
            <a:r>
              <a:rPr sz="1100" b="0" dirty="0" err="1">
                <a:solidFill>
                  <a:srgbClr val="52525B"/>
                </a:solidFill>
                <a:latin typeface="Inter"/>
              </a:rPr>
              <a:t>Kontaktirajte</a:t>
            </a:r>
            <a:r>
              <a:rPr sz="1100" b="0" dirty="0">
                <a:solidFill>
                  <a:srgbClr val="52525B"/>
                </a:solidFill>
                <a:latin typeface="Inter"/>
              </a:rPr>
              <a:t> </a:t>
            </a:r>
            <a:r>
              <a:rPr sz="1100" b="0" dirty="0" err="1">
                <a:solidFill>
                  <a:srgbClr val="52525B"/>
                </a:solidFill>
                <a:latin typeface="Inter"/>
              </a:rPr>
              <a:t>nas</a:t>
            </a:r>
            <a:r>
              <a:rPr sz="1100" b="0" dirty="0">
                <a:solidFill>
                  <a:srgbClr val="52525B"/>
                </a:solidFill>
                <a:latin typeface="Inter"/>
              </a:rPr>
              <a:t> </a:t>
            </a:r>
            <a:r>
              <a:rPr sz="1100" b="0" dirty="0" err="1">
                <a:solidFill>
                  <a:srgbClr val="52525B"/>
                </a:solidFill>
                <a:latin typeface="Inter"/>
              </a:rPr>
              <a:t>na</a:t>
            </a:r>
            <a:r>
              <a:rPr sz="1100" b="0" dirty="0">
                <a:solidFill>
                  <a:srgbClr val="52525B"/>
                </a:solidFill>
                <a:latin typeface="Inter"/>
              </a:rPr>
              <a:t> </a:t>
            </a:r>
            <a:r>
              <a:rPr sz="1100" b="1" dirty="0" err="1">
                <a:solidFill>
                  <a:srgbClr val="52525B"/>
                </a:solidFill>
                <a:latin typeface="Inter"/>
              </a:rPr>
              <a:t>info@cee-med.com</a:t>
            </a:r>
            <a:endParaRPr sz="1100" b="1" dirty="0">
              <a:solidFill>
                <a:srgbClr val="52525B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548640"/>
            <a:ext cx="265176" cy="26517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57784" y="539496"/>
            <a:ext cx="265176" cy="26517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0000"/>
                </a:solidFill>
                <a:latin typeface="Inter"/>
              </a:rPr>
              <a:t>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" y="539496"/>
            <a:ext cx="10972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Inter"/>
              </a:rPr>
              <a:t>AiMED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846385"/>
            <a:ext cx="12191695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80" dirty="0">
                <a:solidFill>
                  <a:srgbClr val="71717A"/>
                </a:solidFill>
                <a:latin typeface="Inter"/>
              </a:rPr>
              <a:t>SLJEDEĆI KORAK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1212145"/>
            <a:ext cx="12191695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6200" b="1" dirty="0" err="1">
                <a:solidFill>
                  <a:srgbClr val="FFFFFF"/>
                </a:solidFill>
                <a:latin typeface="Inter"/>
              </a:rPr>
              <a:t>Zatražite</a:t>
            </a:r>
            <a:r>
              <a:rPr sz="6200" b="1" dirty="0">
                <a:solidFill>
                  <a:srgbClr val="FFFFFF"/>
                </a:solidFill>
                <a:latin typeface="Inter"/>
              </a:rPr>
              <a:t> </a:t>
            </a:r>
            <a:r>
              <a:rPr sz="6200" b="1" dirty="0" err="1">
                <a:solidFill>
                  <a:srgbClr val="FFFFFF"/>
                </a:solidFill>
                <a:latin typeface="Inter"/>
              </a:rPr>
              <a:t>pristup</a:t>
            </a:r>
            <a:endParaRPr sz="6200" b="1" dirty="0">
              <a:solidFill>
                <a:srgbClr val="FFFFFF"/>
              </a:solidFill>
              <a:latin typeface="Inter"/>
            </a:endParaRP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6200" b="1" dirty="0" err="1">
                <a:solidFill>
                  <a:srgbClr val="FFFFFF"/>
                </a:solidFill>
                <a:latin typeface="Inter"/>
              </a:rPr>
              <a:t>AiMED</a:t>
            </a:r>
            <a:r>
              <a:rPr sz="6200" b="1" dirty="0">
                <a:solidFill>
                  <a:srgbClr val="FFFFFF"/>
                </a:solidFill>
                <a:latin typeface="Inter"/>
              </a:rPr>
              <a:t> </a:t>
            </a:r>
            <a:r>
              <a:rPr sz="6200" b="1" dirty="0" err="1">
                <a:solidFill>
                  <a:srgbClr val="FFFFFF"/>
                </a:solidFill>
                <a:latin typeface="Inter"/>
              </a:rPr>
              <a:t>platformi</a:t>
            </a:r>
            <a:r>
              <a:rPr sz="6200" b="1" dirty="0">
                <a:solidFill>
                  <a:srgbClr val="FFFFFF"/>
                </a:solidFill>
                <a:latin typeface="Inter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152" y="3040945"/>
            <a:ext cx="7619695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chemeClr val="bg1">
                    <a:lumMod val="95000"/>
                  </a:schemeClr>
                </a:solidFill>
                <a:latin typeface="Inter"/>
              </a:rPr>
              <a:t>14 dana </a:t>
            </a:r>
            <a:r>
              <a:rPr sz="2000" b="1" dirty="0" err="1">
                <a:solidFill>
                  <a:schemeClr val="bg1">
                    <a:lumMod val="95000"/>
                  </a:schemeClr>
                </a:solidFill>
                <a:latin typeface="Inter"/>
              </a:rPr>
              <a:t>besplatno</a:t>
            </a:r>
            <a:r>
              <a:rPr sz="2000" b="1" dirty="0">
                <a:solidFill>
                  <a:schemeClr val="bg1">
                    <a:lumMod val="95000"/>
                  </a:schemeClr>
                </a:solidFill>
                <a:latin typeface="Inter"/>
              </a:rPr>
              <a:t>.</a:t>
            </a:r>
            <a:endParaRPr lang="hr-HR" sz="2000" b="1" dirty="0">
              <a:solidFill>
                <a:schemeClr val="bg1">
                  <a:lumMod val="95000"/>
                </a:schemeClr>
              </a:solidFill>
              <a:latin typeface="Inter"/>
            </a:endParaRPr>
          </a:p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dirty="0" err="1">
                <a:solidFill>
                  <a:srgbClr val="A1A1AA"/>
                </a:solidFill>
                <a:latin typeface="Inter"/>
              </a:rPr>
              <a:t>Personalizovan</a:t>
            </a:r>
            <a:r>
              <a:rPr lang="hr-HR" sz="2000" b="0" dirty="0">
                <a:solidFill>
                  <a:srgbClr val="A1A1AA"/>
                </a:solidFill>
                <a:latin typeface="Inter"/>
              </a:rPr>
              <a:t>a početna </a:t>
            </a:r>
            <a:r>
              <a:rPr sz="2000" b="0" dirty="0" err="1">
                <a:solidFill>
                  <a:srgbClr val="A1A1AA"/>
                </a:solidFill>
                <a:latin typeface="Inter"/>
              </a:rPr>
              <a:t>sesija</a:t>
            </a:r>
            <a:r>
              <a:rPr sz="2000" b="0" dirty="0">
                <a:solidFill>
                  <a:srgbClr val="A1A1AA"/>
                </a:solidFill>
                <a:latin typeface="Inter"/>
              </a:rPr>
              <a:t> za </a:t>
            </a:r>
            <a:r>
              <a:rPr sz="2000" b="0" dirty="0" err="1">
                <a:solidFill>
                  <a:srgbClr val="A1A1AA"/>
                </a:solidFill>
                <a:latin typeface="Inter"/>
              </a:rPr>
              <a:t>vašu</a:t>
            </a:r>
            <a:r>
              <a:rPr sz="2000" b="0" dirty="0">
                <a:solidFill>
                  <a:srgbClr val="A1A1AA"/>
                </a:solidFill>
                <a:latin typeface="Inter"/>
              </a:rPr>
              <a:t> </a:t>
            </a:r>
            <a:r>
              <a:rPr sz="2000" b="0" dirty="0" err="1">
                <a:solidFill>
                  <a:srgbClr val="A1A1AA"/>
                </a:solidFill>
                <a:latin typeface="Inter"/>
              </a:rPr>
              <a:t>ordinaciju</a:t>
            </a:r>
            <a:r>
              <a:rPr sz="2000" b="0" dirty="0">
                <a:solidFill>
                  <a:srgbClr val="A1A1AA"/>
                </a:solidFill>
                <a:latin typeface="Inter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990" y="4297987"/>
            <a:ext cx="3474720" cy="1604309"/>
          </a:xfrm>
          <a:prstGeom prst="roundRect">
            <a:avLst>
              <a:gd name="adj" fmla="val 5000"/>
            </a:avLst>
          </a:prstGeom>
          <a:solidFill>
            <a:srgbClr val="111111"/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590" y="4435148"/>
            <a:ext cx="30175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dirty="0">
                <a:solidFill>
                  <a:schemeClr val="bg1">
                    <a:lumMod val="75000"/>
                  </a:schemeClr>
                </a:solidFill>
                <a:latin typeface="Inter"/>
              </a:rPr>
              <a:t>01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dirty="0" err="1">
                <a:solidFill>
                  <a:schemeClr val="bg1">
                    <a:lumMod val="75000"/>
                  </a:schemeClr>
                </a:solidFill>
                <a:latin typeface="Inter"/>
              </a:rPr>
              <a:t>Zakažite</a:t>
            </a:r>
            <a:r>
              <a:rPr sz="1300" b="0" dirty="0">
                <a:solidFill>
                  <a:schemeClr val="bg1">
                    <a:lumMod val="75000"/>
                  </a:schemeClr>
                </a:solidFill>
                <a:latin typeface="Inter"/>
              </a:rPr>
              <a:t> </a:t>
            </a:r>
            <a:r>
              <a:rPr sz="1300" b="0" dirty="0" err="1">
                <a:solidFill>
                  <a:schemeClr val="bg1">
                    <a:lumMod val="75000"/>
                  </a:schemeClr>
                </a:solidFill>
                <a:latin typeface="Inter"/>
              </a:rPr>
              <a:t>besplatnu</a:t>
            </a:r>
            <a:r>
              <a:rPr sz="1300" b="0" dirty="0">
                <a:solidFill>
                  <a:schemeClr val="bg1">
                    <a:lumMod val="75000"/>
                  </a:schemeClr>
                </a:solidFill>
                <a:latin typeface="Inter"/>
              </a:rPr>
              <a:t> </a:t>
            </a:r>
            <a:r>
              <a:rPr lang="hr-HR" sz="1300" b="0" dirty="0">
                <a:solidFill>
                  <a:schemeClr val="bg1">
                    <a:lumMod val="75000"/>
                  </a:schemeClr>
                </a:solidFill>
                <a:latin typeface="Inter"/>
              </a:rPr>
              <a:t>demonstraciju</a:t>
            </a:r>
            <a:endParaRPr sz="1300" b="0" dirty="0">
              <a:solidFill>
                <a:schemeClr val="bg1">
                  <a:lumMod val="75000"/>
                </a:schemeClr>
              </a:solidFill>
              <a:latin typeface="Inter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389310" y="4297987"/>
            <a:ext cx="3474720" cy="1604309"/>
          </a:xfrm>
          <a:prstGeom prst="roundRect">
            <a:avLst>
              <a:gd name="adj" fmla="val 5000"/>
            </a:avLst>
          </a:prstGeom>
          <a:solidFill>
            <a:srgbClr val="111111"/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17910" y="4435148"/>
            <a:ext cx="30175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dirty="0">
                <a:solidFill>
                  <a:schemeClr val="bg1">
                    <a:lumMod val="75000"/>
                  </a:schemeClr>
                </a:solidFill>
                <a:latin typeface="Inter"/>
              </a:rPr>
              <a:t>02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dirty="0" err="1">
                <a:solidFill>
                  <a:schemeClr val="bg1">
                    <a:lumMod val="75000"/>
                  </a:schemeClr>
                </a:solidFill>
                <a:latin typeface="Inter"/>
              </a:rPr>
              <a:t>Probni</a:t>
            </a:r>
            <a:r>
              <a:rPr sz="1300" b="0" dirty="0">
                <a:solidFill>
                  <a:schemeClr val="bg1">
                    <a:lumMod val="75000"/>
                  </a:schemeClr>
                </a:solidFill>
                <a:latin typeface="Inter"/>
              </a:rPr>
              <a:t> period</a:t>
            </a:r>
            <a:r>
              <a:rPr lang="hr-HR" sz="1300" b="0" dirty="0">
                <a:solidFill>
                  <a:schemeClr val="bg1">
                    <a:lumMod val="75000"/>
                  </a:schemeClr>
                </a:solidFill>
                <a:latin typeface="Inter"/>
              </a:rPr>
              <a:t>: </a:t>
            </a:r>
            <a:r>
              <a:rPr sz="1300" b="0" dirty="0">
                <a:solidFill>
                  <a:schemeClr val="bg1">
                    <a:lumMod val="75000"/>
                  </a:schemeClr>
                </a:solidFill>
                <a:latin typeface="Inter"/>
              </a:rPr>
              <a:t>14 dana </a:t>
            </a:r>
            <a:r>
              <a:rPr sz="1300" b="0" dirty="0" err="1">
                <a:solidFill>
                  <a:schemeClr val="bg1">
                    <a:lumMod val="75000"/>
                  </a:schemeClr>
                </a:solidFill>
                <a:latin typeface="Inter"/>
              </a:rPr>
              <a:t>besplatno</a:t>
            </a:r>
            <a:r>
              <a:rPr sz="1300" b="0" dirty="0">
                <a:solidFill>
                  <a:schemeClr val="bg1">
                    <a:lumMod val="75000"/>
                  </a:schemeClr>
                </a:solidFill>
                <a:latin typeface="Inter"/>
              </a:rPr>
              <a:t>, bez </a:t>
            </a:r>
            <a:r>
              <a:rPr sz="1300" b="0" dirty="0" err="1">
                <a:solidFill>
                  <a:schemeClr val="bg1">
                    <a:lumMod val="75000"/>
                  </a:schemeClr>
                </a:solidFill>
                <a:latin typeface="Inter"/>
              </a:rPr>
              <a:t>obaveza</a:t>
            </a:r>
            <a:endParaRPr sz="1300" b="0" dirty="0">
              <a:solidFill>
                <a:schemeClr val="bg1">
                  <a:lumMod val="75000"/>
                </a:schemeClr>
              </a:solidFill>
              <a:latin typeface="Inter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092630" y="4297987"/>
            <a:ext cx="3474720" cy="1604309"/>
          </a:xfrm>
          <a:prstGeom prst="roundRect">
            <a:avLst>
              <a:gd name="adj" fmla="val 5000"/>
            </a:avLst>
          </a:prstGeom>
          <a:solidFill>
            <a:srgbClr val="111111"/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21230" y="4435148"/>
            <a:ext cx="3017520" cy="160431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dirty="0">
                <a:solidFill>
                  <a:schemeClr val="bg1">
                    <a:lumMod val="75000"/>
                  </a:schemeClr>
                </a:solidFill>
                <a:latin typeface="Inter"/>
              </a:rPr>
              <a:t>03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dirty="0" err="1">
                <a:solidFill>
                  <a:schemeClr val="bg1">
                    <a:lumMod val="75000"/>
                  </a:schemeClr>
                </a:solidFill>
                <a:latin typeface="Inter"/>
              </a:rPr>
              <a:t>Počnite</a:t>
            </a:r>
            <a:r>
              <a:rPr sz="1300" b="0" dirty="0">
                <a:solidFill>
                  <a:schemeClr val="bg1">
                    <a:lumMod val="75000"/>
                  </a:schemeClr>
                </a:solidFill>
                <a:latin typeface="Inter"/>
              </a:rPr>
              <a:t> </a:t>
            </a:r>
            <a:r>
              <a:rPr sz="1300" b="0" dirty="0" err="1">
                <a:solidFill>
                  <a:schemeClr val="bg1">
                    <a:lumMod val="75000"/>
                  </a:schemeClr>
                </a:solidFill>
                <a:latin typeface="Inter"/>
              </a:rPr>
              <a:t>štedjeti</a:t>
            </a:r>
            <a:r>
              <a:rPr sz="1300" b="0" dirty="0">
                <a:solidFill>
                  <a:schemeClr val="bg1">
                    <a:lumMod val="75000"/>
                  </a:schemeClr>
                </a:solidFill>
                <a:latin typeface="Inter"/>
              </a:rPr>
              <a:t> 1–2 </a:t>
            </a:r>
            <a:r>
              <a:rPr sz="1300" b="0" dirty="0" err="1">
                <a:solidFill>
                  <a:schemeClr val="bg1">
                    <a:lumMod val="75000"/>
                  </a:schemeClr>
                </a:solidFill>
                <a:latin typeface="Inter"/>
              </a:rPr>
              <a:t>sata</a:t>
            </a:r>
            <a:r>
              <a:rPr sz="1300" b="0" dirty="0">
                <a:solidFill>
                  <a:schemeClr val="bg1">
                    <a:lumMod val="75000"/>
                  </a:schemeClr>
                </a:solidFill>
                <a:latin typeface="Inter"/>
              </a:rPr>
              <a:t> </a:t>
            </a:r>
            <a:r>
              <a:rPr sz="1300" b="0" dirty="0" err="1">
                <a:solidFill>
                  <a:schemeClr val="bg1">
                    <a:lumMod val="75000"/>
                  </a:schemeClr>
                </a:solidFill>
                <a:latin typeface="Inter"/>
              </a:rPr>
              <a:t>dnevno</a:t>
            </a:r>
            <a:r>
              <a:rPr sz="1300" b="0" dirty="0">
                <a:solidFill>
                  <a:schemeClr val="bg1">
                    <a:lumMod val="75000"/>
                  </a:schemeClr>
                </a:solidFill>
                <a:latin typeface="Inter"/>
              </a:rPr>
              <a:t> od </a:t>
            </a:r>
            <a:r>
              <a:rPr sz="1300" b="0" dirty="0" err="1">
                <a:solidFill>
                  <a:schemeClr val="bg1">
                    <a:lumMod val="75000"/>
                  </a:schemeClr>
                </a:solidFill>
                <a:latin typeface="Inter"/>
              </a:rPr>
              <a:t>prvog</a:t>
            </a:r>
            <a:r>
              <a:rPr sz="1300" b="0" dirty="0">
                <a:solidFill>
                  <a:schemeClr val="bg1">
                    <a:lumMod val="75000"/>
                  </a:schemeClr>
                </a:solidFill>
                <a:latin typeface="Inter"/>
              </a:rPr>
              <a:t> dana</a:t>
            </a:r>
            <a:r>
              <a:rPr lang="hr-HR" sz="1300" b="0" dirty="0">
                <a:solidFill>
                  <a:schemeClr val="bg1">
                    <a:lumMod val="75000"/>
                  </a:schemeClr>
                </a:solidFill>
                <a:latin typeface="Inter"/>
              </a:rPr>
              <a:t> odabirom paketa</a:t>
            </a:r>
            <a:endParaRPr sz="1300" b="0" dirty="0">
              <a:solidFill>
                <a:schemeClr val="bg1">
                  <a:lumMod val="75000"/>
                </a:schemeClr>
              </a:solidFill>
              <a:latin typeface="Inter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0" y="6492240"/>
            <a:ext cx="12191695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dirty="0">
                <a:solidFill>
                  <a:schemeClr val="bg1">
                    <a:lumMod val="65000"/>
                  </a:schemeClr>
                </a:solidFill>
                <a:latin typeface="Inter"/>
              </a:rPr>
              <a:t>© 2026 AIMED | AI Medical Dictation · CEE-MED d.o.o. · </a:t>
            </a:r>
            <a:r>
              <a:rPr sz="1100" b="0" dirty="0" err="1">
                <a:solidFill>
                  <a:schemeClr val="bg1">
                    <a:lumMod val="65000"/>
                  </a:schemeClr>
                </a:solidFill>
                <a:latin typeface="Inter"/>
              </a:rPr>
              <a:t>Razvijeno</a:t>
            </a:r>
            <a:r>
              <a:rPr sz="1100" b="0" dirty="0">
                <a:solidFill>
                  <a:schemeClr val="bg1">
                    <a:lumMod val="65000"/>
                  </a:schemeClr>
                </a:solidFill>
                <a:latin typeface="Inter"/>
              </a:rPr>
              <a:t> za </a:t>
            </a:r>
            <a:r>
              <a:rPr lang="hr-HR" sz="1100" b="0" dirty="0">
                <a:solidFill>
                  <a:schemeClr val="bg1">
                    <a:lumMod val="65000"/>
                  </a:schemeClr>
                </a:solidFill>
                <a:latin typeface="Inter"/>
              </a:rPr>
              <a:t>doktore</a:t>
            </a:r>
            <a:r>
              <a:rPr sz="1100" b="0" dirty="0">
                <a:solidFill>
                  <a:schemeClr val="bg1">
                    <a:lumMod val="65000"/>
                  </a:schemeClr>
                </a:solidFill>
                <a:latin typeface="Inter"/>
              </a:rPr>
              <a:t> </a:t>
            </a:r>
            <a:r>
              <a:rPr sz="1100" b="0" dirty="0" err="1">
                <a:solidFill>
                  <a:schemeClr val="bg1">
                    <a:lumMod val="65000"/>
                  </a:schemeClr>
                </a:solidFill>
                <a:latin typeface="Inter"/>
              </a:rPr>
              <a:t>na</a:t>
            </a:r>
            <a:r>
              <a:rPr sz="1100" b="0" dirty="0">
                <a:solidFill>
                  <a:schemeClr val="bg1">
                    <a:lumMod val="65000"/>
                  </a:schemeClr>
                </a:solidFill>
                <a:latin typeface="Inter"/>
              </a:rPr>
              <a:t> </a:t>
            </a:r>
            <a:r>
              <a:rPr sz="1100" b="0" dirty="0" err="1">
                <a:solidFill>
                  <a:schemeClr val="bg1">
                    <a:lumMod val="65000"/>
                  </a:schemeClr>
                </a:solidFill>
                <a:latin typeface="Inter"/>
              </a:rPr>
              <a:t>Balkanu</a:t>
            </a:r>
            <a:r>
              <a:rPr sz="1100" b="0" dirty="0">
                <a:solidFill>
                  <a:schemeClr val="bg1">
                    <a:lumMod val="65000"/>
                  </a:schemeClr>
                </a:solidFill>
                <a:latin typeface="Inter"/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548640"/>
            <a:ext cx="265176" cy="26517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57784" y="539496"/>
            <a:ext cx="265176" cy="26517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0000"/>
                </a:solidFill>
                <a:latin typeface="Inter"/>
              </a:rPr>
              <a:t>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" y="539496"/>
            <a:ext cx="10972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Inter"/>
              </a:rPr>
              <a:t>AiMED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846385"/>
            <a:ext cx="12191695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hr-HR" sz="1100" b="1" spc="180" dirty="0">
                <a:solidFill>
                  <a:srgbClr val="71717A"/>
                </a:solidFill>
                <a:latin typeface="Inter"/>
              </a:rPr>
              <a:t>KONTAKTIRAJTE NAS</a:t>
            </a:r>
            <a:endParaRPr sz="1100" b="1" spc="180" dirty="0">
              <a:solidFill>
                <a:srgbClr val="71717A"/>
              </a:solidFill>
              <a:latin typeface="Inter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0" y="1212145"/>
            <a:ext cx="12191695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lang="hr-HR" sz="6200" b="1" dirty="0">
                <a:solidFill>
                  <a:srgbClr val="FFFFFF"/>
                </a:solidFill>
                <a:latin typeface="Inter"/>
              </a:rPr>
              <a:t>Kontakt</a:t>
            </a:r>
            <a:endParaRPr sz="6200" b="1" dirty="0">
              <a:solidFill>
                <a:srgbClr val="FFFFFF"/>
              </a:solidFill>
              <a:latin typeface="Inter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85989" y="2719573"/>
            <a:ext cx="4506685" cy="2926282"/>
          </a:xfrm>
          <a:prstGeom prst="roundRect">
            <a:avLst>
              <a:gd name="adj" fmla="val 5000"/>
            </a:avLst>
          </a:prstGeom>
          <a:solidFill>
            <a:srgbClr val="111111"/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05256" y="3025535"/>
            <a:ext cx="4017618" cy="231201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hr-HR" sz="1300" b="1" dirty="0" err="1">
                <a:solidFill>
                  <a:schemeClr val="bg1">
                    <a:lumMod val="95000"/>
                  </a:schemeClr>
                </a:solidFill>
                <a:latin typeface="Inter"/>
              </a:rPr>
              <a:t>Website</a:t>
            </a:r>
            <a:r>
              <a:rPr lang="hr-HR" sz="1300" b="0" dirty="0">
                <a:solidFill>
                  <a:schemeClr val="bg1">
                    <a:lumMod val="95000"/>
                  </a:schemeClr>
                </a:solidFill>
                <a:latin typeface="Inter"/>
              </a:rPr>
              <a:t>: </a:t>
            </a:r>
            <a:r>
              <a:rPr lang="hr-HR" sz="1300" b="0" dirty="0" err="1">
                <a:solidFill>
                  <a:schemeClr val="bg1">
                    <a:lumMod val="95000"/>
                  </a:schemeClr>
                </a:solidFill>
                <a:latin typeface="Inter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hr-HR" sz="1300" b="0" dirty="0">
                <a:solidFill>
                  <a:schemeClr val="bg1">
                    <a:lumMod val="95000"/>
                  </a:schemeClr>
                </a:solidFill>
                <a:latin typeface="Inter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</a:t>
            </a:r>
            <a:r>
              <a:rPr lang="hr-HR" sz="1300" b="0" dirty="0" err="1">
                <a:solidFill>
                  <a:schemeClr val="bg1">
                    <a:lumMod val="95000"/>
                  </a:schemeClr>
                </a:solidFill>
                <a:latin typeface="Inter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aimed.ba</a:t>
            </a:r>
            <a:endParaRPr lang="hr-HR" sz="1300" b="0" dirty="0">
              <a:solidFill>
                <a:schemeClr val="bg1">
                  <a:lumMod val="95000"/>
                </a:schemeClr>
              </a:solidFill>
              <a:latin typeface="Inter"/>
            </a:endParaRP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hr-HR" sz="1300" b="1" dirty="0">
                <a:solidFill>
                  <a:schemeClr val="bg1">
                    <a:lumMod val="95000"/>
                  </a:schemeClr>
                </a:solidFill>
                <a:latin typeface="Inter"/>
              </a:rPr>
              <a:t>Email</a:t>
            </a:r>
            <a:r>
              <a:rPr lang="hr-HR" sz="1300" dirty="0">
                <a:solidFill>
                  <a:schemeClr val="bg1">
                    <a:lumMod val="95000"/>
                  </a:schemeClr>
                </a:solidFill>
                <a:latin typeface="Inter"/>
              </a:rPr>
              <a:t>: </a:t>
            </a:r>
            <a:r>
              <a:rPr lang="hr-HR" sz="1300" dirty="0" err="1">
                <a:solidFill>
                  <a:schemeClr val="bg1">
                    <a:lumMod val="95000"/>
                  </a:schemeClr>
                </a:solidFill>
                <a:latin typeface="Inter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info@cee-med.ba</a:t>
            </a:r>
            <a:endParaRPr lang="hr-HR" sz="1300" dirty="0">
              <a:solidFill>
                <a:schemeClr val="bg1">
                  <a:lumMod val="95000"/>
                </a:schemeClr>
              </a:solidFill>
              <a:latin typeface="Inter"/>
            </a:endParaRP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endParaRPr lang="hr-HR" sz="1300" dirty="0">
              <a:solidFill>
                <a:schemeClr val="bg1">
                  <a:lumMod val="95000"/>
                </a:schemeClr>
              </a:solidFill>
              <a:latin typeface="Inter"/>
            </a:endParaRP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hr-HR" sz="1300" b="1" dirty="0">
                <a:solidFill>
                  <a:schemeClr val="bg1">
                    <a:lumMod val="95000"/>
                  </a:schemeClr>
                </a:solidFill>
                <a:latin typeface="Inter"/>
              </a:rPr>
              <a:t>Tel</a:t>
            </a:r>
            <a:r>
              <a:rPr lang="hr-HR" sz="1300" dirty="0">
                <a:solidFill>
                  <a:schemeClr val="bg1">
                    <a:lumMod val="95000"/>
                  </a:schemeClr>
                </a:solidFill>
                <a:latin typeface="Inter"/>
              </a:rPr>
              <a:t>: +387 (0)33 420-026</a:t>
            </a:r>
          </a:p>
          <a:p>
            <a:pPr>
              <a:lnSpc>
                <a:spcPct val="140000"/>
              </a:lnSpc>
            </a:pPr>
            <a:r>
              <a:rPr lang="hr-HR" sz="1300" b="1" dirty="0">
                <a:solidFill>
                  <a:schemeClr val="bg1">
                    <a:lumMod val="95000"/>
                  </a:schemeClr>
                </a:solidFill>
                <a:latin typeface="Inter"/>
              </a:rPr>
              <a:t>Fax</a:t>
            </a:r>
            <a:r>
              <a:rPr lang="hr-HR" sz="1300" dirty="0">
                <a:solidFill>
                  <a:schemeClr val="bg1">
                    <a:lumMod val="95000"/>
                  </a:schemeClr>
                </a:solidFill>
                <a:latin typeface="Inter"/>
              </a:rPr>
              <a:t>: +387 (0)33 420-027</a:t>
            </a:r>
          </a:p>
          <a:p>
            <a:pPr>
              <a:lnSpc>
                <a:spcPct val="140000"/>
              </a:lnSpc>
            </a:pPr>
            <a:endParaRPr lang="hr-HR" sz="1300" dirty="0">
              <a:solidFill>
                <a:schemeClr val="bg1">
                  <a:lumMod val="95000"/>
                </a:schemeClr>
              </a:solidFill>
              <a:latin typeface="Inter"/>
            </a:endParaRPr>
          </a:p>
          <a:p>
            <a:pPr>
              <a:lnSpc>
                <a:spcPct val="140000"/>
              </a:lnSpc>
            </a:pPr>
            <a:r>
              <a:rPr lang="hr-HR" sz="1300" b="1" dirty="0">
                <a:solidFill>
                  <a:schemeClr val="bg1">
                    <a:lumMod val="95000"/>
                  </a:schemeClr>
                </a:solidFill>
                <a:latin typeface="Inter"/>
              </a:rPr>
              <a:t>Adresa</a:t>
            </a:r>
            <a:r>
              <a:rPr lang="hr-HR" sz="1300" dirty="0">
                <a:solidFill>
                  <a:schemeClr val="bg1">
                    <a:lumMod val="95000"/>
                  </a:schemeClr>
                </a:solidFill>
                <a:latin typeface="Inter"/>
              </a:rPr>
              <a:t>: Zaima Šarca 34, 71000 Sarajevo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hr-HR" sz="1300" b="1" dirty="0">
                <a:solidFill>
                  <a:schemeClr val="bg1">
                    <a:lumMod val="95000"/>
                  </a:schemeClr>
                </a:solidFill>
                <a:latin typeface="Inter"/>
              </a:rPr>
              <a:t>Radno vrijeme</a:t>
            </a:r>
            <a:r>
              <a:rPr lang="hr-HR" sz="1300" dirty="0">
                <a:solidFill>
                  <a:schemeClr val="bg1">
                    <a:lumMod val="95000"/>
                  </a:schemeClr>
                </a:solidFill>
                <a:latin typeface="Inter"/>
              </a:rPr>
              <a:t>: Pon - Pet: 08:00 - 16:00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hr-HR" sz="1300" dirty="0">
                <a:solidFill>
                  <a:schemeClr val="bg1">
                    <a:lumMod val="95000"/>
                  </a:schemeClr>
                </a:solidFill>
                <a:latin typeface="Inter"/>
              </a:rPr>
              <a:t> </a:t>
            </a:r>
            <a:endParaRPr sz="1300" b="0" dirty="0">
              <a:solidFill>
                <a:schemeClr val="bg1">
                  <a:lumMod val="95000"/>
                </a:schemeClr>
              </a:solidFill>
              <a:latin typeface="Inter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0" y="6492240"/>
            <a:ext cx="12191695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dirty="0">
                <a:solidFill>
                  <a:schemeClr val="bg1">
                    <a:lumMod val="65000"/>
                  </a:schemeClr>
                </a:solidFill>
                <a:latin typeface="Inter"/>
              </a:rPr>
              <a:t>© 2026 AIMED | AI Medical Dictation · CEE-MED d.o.o. · </a:t>
            </a:r>
            <a:r>
              <a:rPr sz="1100" b="0" dirty="0" err="1">
                <a:solidFill>
                  <a:schemeClr val="bg1">
                    <a:lumMod val="65000"/>
                  </a:schemeClr>
                </a:solidFill>
                <a:latin typeface="Inter"/>
              </a:rPr>
              <a:t>Razvijeno</a:t>
            </a:r>
            <a:r>
              <a:rPr sz="1100" b="0" dirty="0">
                <a:solidFill>
                  <a:schemeClr val="bg1">
                    <a:lumMod val="65000"/>
                  </a:schemeClr>
                </a:solidFill>
                <a:latin typeface="Inter"/>
              </a:rPr>
              <a:t> za </a:t>
            </a:r>
            <a:r>
              <a:rPr lang="hr-HR" sz="1100" b="0" dirty="0">
                <a:solidFill>
                  <a:schemeClr val="bg1">
                    <a:lumMod val="65000"/>
                  </a:schemeClr>
                </a:solidFill>
                <a:latin typeface="Inter"/>
              </a:rPr>
              <a:t>doktore</a:t>
            </a:r>
            <a:r>
              <a:rPr sz="1100" b="0" dirty="0">
                <a:solidFill>
                  <a:schemeClr val="bg1">
                    <a:lumMod val="65000"/>
                  </a:schemeClr>
                </a:solidFill>
                <a:latin typeface="Inter"/>
              </a:rPr>
              <a:t> </a:t>
            </a:r>
            <a:r>
              <a:rPr sz="1100" b="0" dirty="0" err="1">
                <a:solidFill>
                  <a:schemeClr val="bg1">
                    <a:lumMod val="65000"/>
                  </a:schemeClr>
                </a:solidFill>
                <a:latin typeface="Inter"/>
              </a:rPr>
              <a:t>na</a:t>
            </a:r>
            <a:r>
              <a:rPr sz="1100" b="0" dirty="0">
                <a:solidFill>
                  <a:schemeClr val="bg1">
                    <a:lumMod val="65000"/>
                  </a:schemeClr>
                </a:solidFill>
                <a:latin typeface="Inter"/>
              </a:rPr>
              <a:t> </a:t>
            </a:r>
            <a:r>
              <a:rPr sz="1100" b="0" dirty="0" err="1">
                <a:solidFill>
                  <a:schemeClr val="bg1">
                    <a:lumMod val="65000"/>
                  </a:schemeClr>
                </a:solidFill>
                <a:latin typeface="Inter"/>
              </a:rPr>
              <a:t>Balkanu</a:t>
            </a:r>
            <a:r>
              <a:rPr sz="1100" b="0" dirty="0">
                <a:solidFill>
                  <a:schemeClr val="bg1">
                    <a:lumMod val="65000"/>
                  </a:schemeClr>
                </a:solidFill>
                <a:latin typeface="Inter"/>
              </a:rPr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65F9C43-C049-F606-5A24-4984DEE425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6601" y="3040945"/>
            <a:ext cx="4506686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9129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1197</Words>
  <Application>Microsoft Macintosh PowerPoint</Application>
  <PresentationFormat>Widescreen</PresentationFormat>
  <Paragraphs>196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Riad Okić</cp:lastModifiedBy>
  <cp:revision>16</cp:revision>
  <dcterms:created xsi:type="dcterms:W3CDTF">2013-01-27T09:14:16Z</dcterms:created>
  <dcterms:modified xsi:type="dcterms:W3CDTF">2026-02-19T17:56:33Z</dcterms:modified>
  <cp:category/>
</cp:coreProperties>
</file>